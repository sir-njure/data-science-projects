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B49C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9292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B7DDB"/>
                </a:solidFill>
                <a:latin typeface="Arial MT"/>
                <a:cs typeface="Arial MT"/>
              </a:defRPr>
            </a:lvl1pPr>
          </a:lstStyle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B49C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9292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B7DDB"/>
                </a:solidFill>
                <a:latin typeface="Arial MT"/>
                <a:cs typeface="Arial MT"/>
              </a:defRPr>
            </a:lvl1pPr>
          </a:lstStyle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B49C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B7DDB"/>
                </a:solidFill>
                <a:latin typeface="Arial MT"/>
                <a:cs typeface="Arial MT"/>
              </a:defRPr>
            </a:lvl1pPr>
          </a:lstStyle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B49C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B7DDB"/>
                </a:solidFill>
                <a:latin typeface="Arial MT"/>
                <a:cs typeface="Arial MT"/>
              </a:defRPr>
            </a:lvl1pPr>
          </a:lstStyle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B7DDB"/>
                </a:solidFill>
                <a:latin typeface="Arial MT"/>
                <a:cs typeface="Arial MT"/>
              </a:defRPr>
            </a:lvl1pPr>
          </a:lstStyle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3036" y="420490"/>
            <a:ext cx="10239375" cy="7701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B49C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4925" y="1862451"/>
            <a:ext cx="8591550" cy="4337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9292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8182" y="6102892"/>
            <a:ext cx="3149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B7DDB"/>
                </a:solidFill>
                <a:latin typeface="Arial MT"/>
                <a:cs typeface="Arial MT"/>
              </a:defRPr>
            </a:lvl1pPr>
          </a:lstStyle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api.spacexdata.com/v4/launches/past" TargetMode="Externa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github.com/zanevc5555/IBM_DataScience_Capstone/blob/main/jupyter-labs-spacex-data-collection-api.ipyn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zanevc5555/IBM_DataScience_Capstone/blob/main/jupyter-labs-webscraping.ipynb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zanevc5555/IBM_DataScience_Capstone/blob/main/labs-jupyter-spacex-Data%20wrangling.ipynb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zanevc5555/IBM_DataScience_Capstone/blob/main/edadataviz.ipynb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zanevc5555/IBM_DataScience_Capstone/blob/main/jupyter-labs-eda-sql-coursera_sqllite.ipynb" TargetMode="Externa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zanevc5555/IBM_DataScience_Capstone/blob/main/spacex_dash_app.p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zanevc5555/IBM_DataScience_Capstone/blob/main/SpaceX_Machine%20Learning%20Prediction_Part_5.ipynb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9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3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1390" y="4584700"/>
            <a:ext cx="221297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altLang="" sz="1800" spc="-10" dirty="0">
                <a:solidFill>
                  <a:srgbClr val="E7E6E6"/>
                </a:solidFill>
                <a:latin typeface="Arial MT"/>
                <a:cs typeface="Arial MT"/>
              </a:rPr>
              <a:t>Antony Mathenge</a:t>
            </a:r>
            <a:r>
              <a:rPr sz="1800" spc="-10" dirty="0">
                <a:solidFill>
                  <a:srgbClr val="E7E6E6"/>
                </a:solidFill>
                <a:latin typeface="Arial MT"/>
                <a:cs typeface="Arial MT"/>
              </a:rPr>
              <a:t> </a:t>
            </a:r>
            <a:r>
              <a:rPr lang="en-US" altLang="" sz="1800" spc="-10" dirty="0">
                <a:solidFill>
                  <a:srgbClr val="E7E6E6"/>
                </a:solidFill>
                <a:latin typeface="Arial MT"/>
                <a:cs typeface="Arial MT"/>
              </a:rPr>
              <a:t>25-Jun-</a:t>
            </a:r>
            <a:r>
              <a:rPr sz="1800" spc="-10" dirty="0">
                <a:solidFill>
                  <a:srgbClr val="E7E6E6"/>
                </a:solidFill>
                <a:latin typeface="Arial MT"/>
                <a:cs typeface="Arial MT"/>
              </a:rPr>
              <a:t>202</a:t>
            </a:r>
            <a:r>
              <a:rPr lang="en-US" altLang="" sz="1800" spc="-10" dirty="0">
                <a:solidFill>
                  <a:srgbClr val="E7E6E6"/>
                </a:solidFill>
                <a:latin typeface="Arial MT"/>
                <a:cs typeface="Arial MT"/>
              </a:rPr>
              <a:t>5</a:t>
            </a:r>
            <a:endParaRPr lang="en-US" altLang="" sz="1800" spc="-10" dirty="0">
              <a:solidFill>
                <a:srgbClr val="E7E6E6"/>
              </a:solidFill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820" y="676828"/>
            <a:ext cx="2104102" cy="6291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3622" y="1949663"/>
            <a:ext cx="2696210" cy="310388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98755" indent="-186055">
              <a:lnSpc>
                <a:spcPct val="100000"/>
              </a:lnSpc>
              <a:spcBef>
                <a:spcPts val="1500"/>
              </a:spcBef>
              <a:buChar char="•"/>
              <a:tabLst>
                <a:tab pos="19875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Executive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Summary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875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Introduction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875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Methodology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875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Results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875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Conclusion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875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Appendix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2000" y="1668298"/>
            <a:ext cx="8623300" cy="422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133350" indent="-186055">
              <a:lnSpc>
                <a:spcPct val="100000"/>
              </a:lnSpc>
              <a:spcBef>
                <a:spcPts val="100"/>
              </a:spcBef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Preparation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Wrangling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organise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filter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relevant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data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such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that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feature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target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variable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relationships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can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be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investigated.</a:t>
            </a:r>
            <a:endParaRPr sz="2200">
              <a:latin typeface="Arial MT"/>
              <a:cs typeface="Arial MT"/>
            </a:endParaRPr>
          </a:p>
          <a:p>
            <a:pPr marL="198120" marR="19685" indent="-186055">
              <a:lnSpc>
                <a:spcPct val="100000"/>
              </a:lnSpc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Exploratory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(EDA)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Pandas,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Matplotlib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SQL,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gauge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importance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each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feature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predicting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target 	outcome.</a:t>
            </a:r>
            <a:endParaRPr sz="2200">
              <a:latin typeface="Arial MT"/>
              <a:cs typeface="Arial MT"/>
            </a:endParaRPr>
          </a:p>
          <a:p>
            <a:pPr marL="198120" marR="787400" indent="-186055">
              <a:lnSpc>
                <a:spcPct val="100000"/>
              </a:lnSpc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Visualisation,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Folium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Plotly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Dash,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investigate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trends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relative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effects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changing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each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feature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variable.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buChar char="•"/>
              <a:tabLst>
                <a:tab pos="19875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Model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Evaluation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determine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predictive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power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feature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variables.</a:t>
            </a:r>
            <a:endParaRPr sz="2200">
              <a:latin typeface="Arial MT"/>
              <a:cs typeface="Arial MT"/>
            </a:endParaRPr>
          </a:p>
          <a:p>
            <a:pPr marL="198120" marR="394970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Future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SpaceX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high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probability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successfully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stage,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particularly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heavy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payloads,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those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sent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into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VLEO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orbit,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those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launched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KSC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LC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39A.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Executive</a:t>
            </a:r>
            <a:r>
              <a:rPr spc="-210" dirty="0"/>
              <a:t> </a:t>
            </a:r>
            <a:r>
              <a:rPr spc="-10" dirty="0"/>
              <a:t>Summary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0495">
              <a:lnSpc>
                <a:spcPts val="187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144757" y="2011217"/>
            <a:ext cx="8436610" cy="363029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6235" marR="17780" indent="-335915">
              <a:lnSpc>
                <a:spcPts val="2810"/>
              </a:lnSpc>
              <a:spcBef>
                <a:spcPts val="450"/>
              </a:spcBef>
              <a:buSzPct val="92000"/>
              <a:buChar char="•"/>
              <a:tabLst>
                <a:tab pos="356235" algn="l"/>
              </a:tabLst>
            </a:pP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company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executives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SpaceCorp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wish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make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50" dirty="0">
                <a:solidFill>
                  <a:srgbClr val="292929"/>
                </a:solidFill>
                <a:latin typeface="Arial MT"/>
                <a:cs typeface="Arial MT"/>
              </a:rPr>
              <a:t>a </a:t>
            </a:r>
            <a:r>
              <a:rPr sz="2600" b="1" spc="-25" dirty="0">
                <a:solidFill>
                  <a:srgbClr val="292929"/>
                </a:solidFill>
                <a:latin typeface="Arial"/>
                <a:cs typeface="Arial"/>
              </a:rPr>
              <a:t>data-</a:t>
            </a:r>
            <a:r>
              <a:rPr sz="2600" b="1" dirty="0">
                <a:solidFill>
                  <a:srgbClr val="292929"/>
                </a:solidFill>
                <a:latin typeface="Arial"/>
                <a:cs typeface="Arial"/>
              </a:rPr>
              <a:t>driven</a:t>
            </a:r>
            <a:r>
              <a:rPr sz="2600" b="1" spc="-7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decision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whether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they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should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Arial MT"/>
                <a:cs typeface="Arial MT"/>
              </a:rPr>
              <a:t>bet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against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next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SpaceX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analysing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292929"/>
                </a:solidFill>
                <a:latin typeface="Arial MT"/>
                <a:cs typeface="Arial MT"/>
              </a:rPr>
              <a:t>cost </a:t>
            </a:r>
            <a:r>
              <a:rPr sz="2600" spc="-10" dirty="0">
                <a:solidFill>
                  <a:srgbClr val="292929"/>
                </a:solidFill>
                <a:latin typeface="Arial MT"/>
                <a:cs typeface="Arial MT"/>
              </a:rPr>
              <a:t>effectiveness</a:t>
            </a:r>
            <a:r>
              <a:rPr sz="26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SpaceX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Arial MT"/>
                <a:cs typeface="Arial MT"/>
              </a:rPr>
              <a:t>launches.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1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356235" marR="5080" indent="-344170">
              <a:lnSpc>
                <a:spcPts val="2810"/>
              </a:lnSpc>
              <a:buChar char="•"/>
              <a:tabLst>
                <a:tab pos="356235" algn="l"/>
              </a:tabLst>
            </a:pP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most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significant</a:t>
            </a:r>
            <a:r>
              <a:rPr sz="2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factor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Arial MT"/>
                <a:cs typeface="Arial MT"/>
              </a:rPr>
              <a:t>determining</a:t>
            </a:r>
            <a:r>
              <a:rPr sz="2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cost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Arial MT"/>
                <a:cs typeface="Arial MT"/>
              </a:rPr>
              <a:t>launch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whether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stage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spacecraft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292929"/>
                </a:solidFill>
                <a:latin typeface="Arial MT"/>
                <a:cs typeface="Arial MT"/>
              </a:rPr>
              <a:t>will </a:t>
            </a:r>
            <a:r>
              <a:rPr sz="2600" b="1" dirty="0">
                <a:solidFill>
                  <a:srgbClr val="292929"/>
                </a:solidFill>
                <a:latin typeface="Arial"/>
                <a:cs typeface="Arial"/>
              </a:rPr>
              <a:t>remain</a:t>
            </a:r>
            <a:r>
              <a:rPr sz="2600" b="1" spc="-7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292929"/>
                </a:solidFill>
                <a:latin typeface="Arial"/>
                <a:cs typeface="Arial"/>
              </a:rPr>
              <a:t>intact</a:t>
            </a:r>
            <a:r>
              <a:rPr sz="2600" b="1" spc="-6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after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launch,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as</a:t>
            </a:r>
            <a:r>
              <a:rPr sz="26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stages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may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292929"/>
                </a:solidFill>
                <a:latin typeface="Arial MT"/>
                <a:cs typeface="Arial MT"/>
              </a:rPr>
              <a:t>be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reused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no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additional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cost</a:t>
            </a:r>
            <a:r>
              <a:rPr sz="26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multiple</a:t>
            </a: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292929"/>
                </a:solidFill>
                <a:latin typeface="Arial MT"/>
                <a:cs typeface="Arial MT"/>
              </a:rPr>
              <a:t>launches.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5312" y="2812774"/>
            <a:ext cx="1058545" cy="369570"/>
          </a:xfrm>
          <a:prstGeom prst="rect">
            <a:avLst/>
          </a:prstGeom>
          <a:solidFill>
            <a:srgbClr val="0948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80592" y="6415412"/>
            <a:ext cx="1384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50" dirty="0">
                <a:solidFill>
                  <a:srgbClr val="1B7DDB"/>
                </a:solidFill>
                <a:latin typeface="Arial MT"/>
                <a:cs typeface="Arial MT"/>
              </a:rPr>
              <a:t>5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3036" y="1417232"/>
            <a:ext cx="8776970" cy="450786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200" dirty="0">
                <a:solidFill>
                  <a:srgbClr val="0B49CB"/>
                </a:solidFill>
                <a:latin typeface="Arial MT"/>
                <a:cs typeface="Arial MT"/>
              </a:rPr>
              <a:t>Executive</a:t>
            </a:r>
            <a:r>
              <a:rPr sz="2200" spc="-45" dirty="0">
                <a:solidFill>
                  <a:srgbClr val="0B49C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B49CB"/>
                </a:solidFill>
                <a:latin typeface="Arial MT"/>
                <a:cs typeface="Arial MT"/>
              </a:rPr>
              <a:t>Summary</a:t>
            </a:r>
            <a:endParaRPr sz="2200">
              <a:latin typeface="Arial MT"/>
              <a:cs typeface="Arial MT"/>
            </a:endParaRPr>
          </a:p>
          <a:p>
            <a:pPr marL="240030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23939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collection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methodology:</a:t>
            </a:r>
            <a:endParaRPr sz="2200">
              <a:latin typeface="Arial MT"/>
              <a:cs typeface="Arial MT"/>
            </a:endParaRPr>
          </a:p>
          <a:p>
            <a:pPr marL="696595" lvl="1" indent="-191135">
              <a:lnSpc>
                <a:spcPct val="100000"/>
              </a:lnSpc>
              <a:spcBef>
                <a:spcPts val="1410"/>
              </a:spcBef>
              <a:buChar char="•"/>
              <a:tabLst>
                <a:tab pos="696595" algn="l"/>
              </a:tabLst>
            </a:pP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Describe</a:t>
            </a:r>
            <a:r>
              <a:rPr sz="1900" spc="-70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how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data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was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757070"/>
                </a:solidFill>
                <a:latin typeface="Arial MT"/>
                <a:cs typeface="Arial MT"/>
              </a:rPr>
              <a:t>collected</a:t>
            </a:r>
            <a:endParaRPr sz="1900">
              <a:latin typeface="Arial MT"/>
              <a:cs typeface="Arial MT"/>
            </a:endParaRPr>
          </a:p>
          <a:p>
            <a:pPr marL="240030" indent="-186055">
              <a:lnSpc>
                <a:spcPct val="100000"/>
              </a:lnSpc>
              <a:spcBef>
                <a:spcPts val="1390"/>
              </a:spcBef>
              <a:buChar char="•"/>
              <a:tabLst>
                <a:tab pos="23939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wrangling</a:t>
            </a:r>
            <a:endParaRPr sz="2200">
              <a:latin typeface="Arial MT"/>
              <a:cs typeface="Arial MT"/>
            </a:endParaRPr>
          </a:p>
          <a:p>
            <a:pPr marL="696595" lvl="1" indent="-191135">
              <a:lnSpc>
                <a:spcPct val="100000"/>
              </a:lnSpc>
              <a:spcBef>
                <a:spcPts val="1410"/>
              </a:spcBef>
              <a:buChar char="•"/>
              <a:tabLst>
                <a:tab pos="696595" algn="l"/>
              </a:tabLst>
            </a:pP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Describe</a:t>
            </a:r>
            <a:r>
              <a:rPr sz="1900" spc="-70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how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data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was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757070"/>
                </a:solidFill>
                <a:latin typeface="Arial MT"/>
                <a:cs typeface="Arial MT"/>
              </a:rPr>
              <a:t>processed</a:t>
            </a:r>
            <a:endParaRPr sz="1900">
              <a:latin typeface="Arial MT"/>
              <a:cs typeface="Arial MT"/>
            </a:endParaRPr>
          </a:p>
          <a:p>
            <a:pPr marL="240030" indent="-186055">
              <a:lnSpc>
                <a:spcPct val="100000"/>
              </a:lnSpc>
              <a:spcBef>
                <a:spcPts val="1390"/>
              </a:spcBef>
              <a:buChar char="•"/>
              <a:tabLst>
                <a:tab pos="23939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exploratory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(EDA)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visualization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SQL</a:t>
            </a:r>
            <a:endParaRPr sz="2200">
              <a:latin typeface="Arial MT"/>
              <a:cs typeface="Arial MT"/>
            </a:endParaRPr>
          </a:p>
          <a:p>
            <a:pPr marL="240030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23939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interactive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visual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analytics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Folium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Plotly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Dash</a:t>
            </a:r>
            <a:endParaRPr sz="2200">
              <a:latin typeface="Arial MT"/>
              <a:cs typeface="Arial MT"/>
            </a:endParaRPr>
          </a:p>
          <a:p>
            <a:pPr marL="240030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23939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predictive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classification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models</a:t>
            </a:r>
            <a:endParaRPr sz="2200">
              <a:latin typeface="Arial MT"/>
              <a:cs typeface="Arial MT"/>
            </a:endParaRPr>
          </a:p>
          <a:p>
            <a:pPr marL="696595" lvl="1" indent="-191135">
              <a:lnSpc>
                <a:spcPct val="100000"/>
              </a:lnSpc>
              <a:spcBef>
                <a:spcPts val="1410"/>
              </a:spcBef>
              <a:buChar char="•"/>
              <a:tabLst>
                <a:tab pos="696595" algn="l"/>
              </a:tabLst>
            </a:pP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How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to</a:t>
            </a:r>
            <a:r>
              <a:rPr sz="1900" spc="-60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build,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tune,</a:t>
            </a:r>
            <a:r>
              <a:rPr sz="1900" spc="-60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57070"/>
                </a:solidFill>
                <a:latin typeface="Arial MT"/>
                <a:cs typeface="Arial MT"/>
              </a:rPr>
              <a:t>evaluate</a:t>
            </a:r>
            <a:r>
              <a:rPr sz="1900" spc="-65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757070"/>
                </a:solidFill>
                <a:latin typeface="Arial MT"/>
                <a:cs typeface="Arial MT"/>
              </a:rPr>
              <a:t>classification</a:t>
            </a:r>
            <a:r>
              <a:rPr sz="1900" spc="-60" dirty="0">
                <a:solidFill>
                  <a:srgbClr val="75707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757070"/>
                </a:solidFill>
                <a:latin typeface="Arial MT"/>
                <a:cs typeface="Arial MT"/>
              </a:rPr>
              <a:t>models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46564" y="6102892"/>
            <a:ext cx="1384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50" dirty="0">
                <a:solidFill>
                  <a:srgbClr val="1B7DDB"/>
                </a:solidFill>
                <a:latin typeface="Arial MT"/>
                <a:cs typeface="Arial MT"/>
              </a:rPr>
              <a:t>6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524" y="1715122"/>
            <a:ext cx="10017125" cy="240474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424815">
              <a:lnSpc>
                <a:spcPct val="100000"/>
              </a:lnSpc>
              <a:spcBef>
                <a:spcPts val="1055"/>
              </a:spcBef>
            </a:pPr>
            <a:r>
              <a:rPr sz="2900" u="heavy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Datasets</a:t>
            </a:r>
            <a:r>
              <a:rPr sz="2900" u="heavy" spc="-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 </a:t>
            </a:r>
            <a:r>
              <a:rPr sz="2900" u="heavy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Used:</a:t>
            </a:r>
            <a:endParaRPr sz="2900">
              <a:latin typeface="Arial MT"/>
              <a:cs typeface="Arial MT"/>
            </a:endParaRPr>
          </a:p>
          <a:p>
            <a:pPr marL="424815" indent="-412115">
              <a:lnSpc>
                <a:spcPts val="2735"/>
              </a:lnSpc>
              <a:spcBef>
                <a:spcPts val="785"/>
              </a:spcBef>
              <a:buFont typeface="Arial MT"/>
              <a:buChar char="●"/>
              <a:tabLst>
                <a:tab pos="424815" algn="l"/>
              </a:tabLst>
            </a:pPr>
            <a:r>
              <a:rPr sz="2400" dirty="0">
                <a:latin typeface="Calibri"/>
                <a:cs typeface="Calibri"/>
              </a:rPr>
              <a:t>SpaceX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Historical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https://api.spacexdata.com/v4/launches/past</a:t>
            </a:r>
            <a:endParaRPr sz="2400">
              <a:latin typeface="Calibri"/>
              <a:cs typeface="Calibri"/>
            </a:endParaRPr>
          </a:p>
          <a:p>
            <a:pPr marL="424815" indent="-412115">
              <a:lnSpc>
                <a:spcPts val="2735"/>
              </a:lnSpc>
              <a:buFont typeface="Arial MT"/>
              <a:buChar char="●"/>
              <a:tabLst>
                <a:tab pos="424815" algn="l"/>
              </a:tabLst>
            </a:pPr>
            <a:r>
              <a:rPr sz="2400" dirty="0">
                <a:latin typeface="Calibri"/>
                <a:cs typeface="Calibri"/>
              </a:rPr>
              <a:t>Booster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Falcon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Calibri"/>
              <a:cs typeface="Calibri"/>
            </a:endParaRPr>
          </a:p>
          <a:p>
            <a:pPr marL="261620" algn="ctr">
              <a:lnSpc>
                <a:spcPct val="100000"/>
              </a:lnSpc>
              <a:spcBef>
                <a:spcPts val="5"/>
              </a:spcBef>
            </a:pPr>
            <a:r>
              <a:rPr sz="32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Collection</a:t>
            </a:r>
            <a:r>
              <a:rPr sz="3200" u="heavy" spc="-1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00" dirty="0"/>
              <a:t> </a:t>
            </a:r>
            <a:r>
              <a:rPr spc="-10" dirty="0"/>
              <a:t>Collection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536699" y="466497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171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0"/>
              </a:spcBef>
            </a:pPr>
            <a:endParaRPr sz="1800">
              <a:latin typeface="Times New Roman"/>
              <a:cs typeface="Times New Roman"/>
            </a:endParaRPr>
          </a:p>
          <a:p>
            <a:pPr marL="46228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2387" y="466497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imes New Roman"/>
              <a:cs typeface="Times New Roman"/>
            </a:endParaRPr>
          </a:p>
          <a:p>
            <a:pPr marL="417830" marR="105410" indent="-305435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Select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Dataset Features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3599" y="466497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imes New Roman"/>
              <a:cs typeface="Times New Roman"/>
            </a:endParaRPr>
          </a:p>
          <a:p>
            <a:pPr marL="398780" marR="113665" indent="-2794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Filter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Falcon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9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launches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54800" y="466497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imes New Roman"/>
              <a:cs typeface="Times New Roman"/>
            </a:endParaRPr>
          </a:p>
          <a:p>
            <a:pPr marL="132080" marR="126365" indent="15430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Webscrape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Falcon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23087" y="5081692"/>
            <a:ext cx="855344" cy="328295"/>
            <a:chOff x="2523087" y="5081692"/>
            <a:chExt cx="855344" cy="328295"/>
          </a:xfrm>
        </p:grpSpPr>
        <p:sp>
          <p:nvSpPr>
            <p:cNvPr id="9" name="object 9"/>
            <p:cNvSpPr/>
            <p:nvPr/>
          </p:nvSpPr>
          <p:spPr>
            <a:xfrm>
              <a:off x="2561187" y="5245653"/>
              <a:ext cx="433070" cy="1270"/>
            </a:xfrm>
            <a:custGeom>
              <a:avLst/>
              <a:gdLst/>
              <a:ahLst/>
              <a:cxnLst/>
              <a:rect l="l" t="t" r="r" b="b"/>
              <a:pathLst>
                <a:path w="433069" h="1270">
                  <a:moveTo>
                    <a:pt x="0" y="1021"/>
                  </a:moveTo>
                  <a:lnTo>
                    <a:pt x="432901" y="0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993791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593" y="251722"/>
                  </a:moveTo>
                  <a:lnTo>
                    <a:pt x="0" y="0"/>
                  </a:lnTo>
                  <a:lnTo>
                    <a:pt x="346099" y="125045"/>
                  </a:lnTo>
                  <a:lnTo>
                    <a:pt x="593" y="251722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993791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593" y="251722"/>
                  </a:moveTo>
                  <a:lnTo>
                    <a:pt x="346099" y="125045"/>
                  </a:lnTo>
                  <a:lnTo>
                    <a:pt x="0" y="0"/>
                  </a:lnTo>
                  <a:lnTo>
                    <a:pt x="593" y="251722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639862" y="5081692"/>
            <a:ext cx="855344" cy="328295"/>
            <a:chOff x="5639862" y="5081692"/>
            <a:chExt cx="855344" cy="328295"/>
          </a:xfrm>
        </p:grpSpPr>
        <p:sp>
          <p:nvSpPr>
            <p:cNvPr id="13" name="object 13"/>
            <p:cNvSpPr/>
            <p:nvPr/>
          </p:nvSpPr>
          <p:spPr>
            <a:xfrm>
              <a:off x="5677962" y="5245653"/>
              <a:ext cx="433070" cy="1270"/>
            </a:xfrm>
            <a:custGeom>
              <a:avLst/>
              <a:gdLst/>
              <a:ahLst/>
              <a:cxnLst/>
              <a:rect l="l" t="t" r="r" b="b"/>
              <a:pathLst>
                <a:path w="433070" h="1270">
                  <a:moveTo>
                    <a:pt x="0" y="1021"/>
                  </a:moveTo>
                  <a:lnTo>
                    <a:pt x="432901" y="0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10566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593" y="251722"/>
                  </a:moveTo>
                  <a:lnTo>
                    <a:pt x="0" y="0"/>
                  </a:lnTo>
                  <a:lnTo>
                    <a:pt x="346099" y="125045"/>
                  </a:lnTo>
                  <a:lnTo>
                    <a:pt x="593" y="251722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10566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593" y="251722"/>
                  </a:moveTo>
                  <a:lnTo>
                    <a:pt x="346099" y="125045"/>
                  </a:lnTo>
                  <a:lnTo>
                    <a:pt x="0" y="0"/>
                  </a:lnTo>
                  <a:lnTo>
                    <a:pt x="593" y="251722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8709437" y="5081692"/>
            <a:ext cx="855344" cy="328295"/>
            <a:chOff x="8709437" y="5081692"/>
            <a:chExt cx="855344" cy="328295"/>
          </a:xfrm>
        </p:grpSpPr>
        <p:sp>
          <p:nvSpPr>
            <p:cNvPr id="17" name="object 17"/>
            <p:cNvSpPr/>
            <p:nvPr/>
          </p:nvSpPr>
          <p:spPr>
            <a:xfrm>
              <a:off x="8747537" y="5245653"/>
              <a:ext cx="433070" cy="1270"/>
            </a:xfrm>
            <a:custGeom>
              <a:avLst/>
              <a:gdLst/>
              <a:ahLst/>
              <a:cxnLst/>
              <a:rect l="l" t="t" r="r" b="b"/>
              <a:pathLst>
                <a:path w="433070" h="1270">
                  <a:moveTo>
                    <a:pt x="0" y="1021"/>
                  </a:moveTo>
                  <a:lnTo>
                    <a:pt x="432901" y="0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80142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5">
                  <a:moveTo>
                    <a:pt x="593" y="251722"/>
                  </a:moveTo>
                  <a:lnTo>
                    <a:pt x="0" y="0"/>
                  </a:lnTo>
                  <a:lnTo>
                    <a:pt x="346097" y="125045"/>
                  </a:lnTo>
                  <a:lnTo>
                    <a:pt x="593" y="251722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80142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5">
                  <a:moveTo>
                    <a:pt x="593" y="251722"/>
                  </a:moveTo>
                  <a:lnTo>
                    <a:pt x="346097" y="125045"/>
                  </a:lnTo>
                  <a:lnTo>
                    <a:pt x="0" y="0"/>
                  </a:lnTo>
                  <a:lnTo>
                    <a:pt x="593" y="251722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1481292" y="6131975"/>
            <a:ext cx="13843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50" dirty="0">
                <a:solidFill>
                  <a:srgbClr val="1B7DDB"/>
                </a:solidFill>
                <a:latin typeface="Arial MT"/>
                <a:cs typeface="Arial MT"/>
              </a:rPr>
              <a:t>7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46564" y="6083644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1B7DDB"/>
                </a:solidFill>
                <a:latin typeface="Arial MT"/>
                <a:cs typeface="Arial MT"/>
              </a:rPr>
              <a:t>8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5675" y="1814448"/>
            <a:ext cx="30213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100"/>
              </a:spcBef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Get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JSON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response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to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API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calls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store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as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Pandas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Dataframe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675" y="3511169"/>
            <a:ext cx="338074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5080" indent="-186055" algn="just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199390" algn="l"/>
              </a:tabLst>
            </a:pP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https://github.com/zanevc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5555/IBM_DataScience_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Capstone/blob/main/jupyt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er-labs-</a:t>
            </a:r>
            <a:r>
              <a:rPr sz="22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spacex-data-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colle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ction-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api.ipynb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45" dirty="0"/>
              <a:t> </a:t>
            </a:r>
            <a:r>
              <a:rPr dirty="0"/>
              <a:t>Collection</a:t>
            </a:r>
            <a:r>
              <a:rPr spc="-90" dirty="0"/>
              <a:t> </a:t>
            </a:r>
            <a:r>
              <a:rPr dirty="0"/>
              <a:t>–</a:t>
            </a:r>
            <a:r>
              <a:rPr spc="-90" dirty="0"/>
              <a:t> </a:t>
            </a:r>
            <a:r>
              <a:rPr spc="-25" dirty="0"/>
              <a:t>SpaceX</a:t>
            </a:r>
            <a:r>
              <a:rPr spc="-235" dirty="0"/>
              <a:t> </a:t>
            </a:r>
            <a:r>
              <a:rPr spc="-25" dirty="0"/>
              <a:t>API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086675" y="3659834"/>
            <a:ext cx="1363345" cy="789940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248285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955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/rockets/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40792" y="3681612"/>
            <a:ext cx="1363345" cy="789940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248285" rIns="0" bIns="0" rtlCol="0">
            <a:spAutoFit/>
          </a:bodyPr>
          <a:lstStyle/>
          <a:p>
            <a:pPr marL="313055">
              <a:lnSpc>
                <a:spcPct val="100000"/>
              </a:lnSpc>
              <a:spcBef>
                <a:spcPts val="1955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/cores/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94150" y="3681624"/>
            <a:ext cx="1789430" cy="789940"/>
          </a:xfrm>
          <a:custGeom>
            <a:avLst/>
            <a:gdLst/>
            <a:ahLst/>
            <a:cxnLst/>
            <a:rect l="l" t="t" r="r" b="b"/>
            <a:pathLst>
              <a:path w="1789429" h="789939">
                <a:moveTo>
                  <a:pt x="1789199" y="789599"/>
                </a:moveTo>
                <a:lnTo>
                  <a:pt x="0" y="789599"/>
                </a:lnTo>
                <a:lnTo>
                  <a:pt x="0" y="0"/>
                </a:lnTo>
                <a:lnTo>
                  <a:pt x="1789199" y="0"/>
                </a:lnTo>
                <a:lnTo>
                  <a:pt x="1789199" y="789599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777413" y="3917420"/>
            <a:ext cx="142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/launchpads/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89418" y="3659819"/>
            <a:ext cx="1363345" cy="789940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24828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955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/payloads/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06999" y="2675375"/>
            <a:ext cx="895350" cy="984250"/>
            <a:chOff x="7506999" y="2675375"/>
            <a:chExt cx="895350" cy="984250"/>
          </a:xfrm>
        </p:grpSpPr>
        <p:sp>
          <p:nvSpPr>
            <p:cNvPr id="12" name="object 12"/>
            <p:cNvSpPr/>
            <p:nvPr/>
          </p:nvSpPr>
          <p:spPr>
            <a:xfrm>
              <a:off x="7642145" y="2694425"/>
              <a:ext cx="741680" cy="818515"/>
            </a:xfrm>
            <a:custGeom>
              <a:avLst/>
              <a:gdLst/>
              <a:ahLst/>
              <a:cxnLst/>
              <a:rect l="l" t="t" r="r" b="b"/>
              <a:pathLst>
                <a:path w="741679" h="818514">
                  <a:moveTo>
                    <a:pt x="741103" y="0"/>
                  </a:moveTo>
                  <a:lnTo>
                    <a:pt x="0" y="817898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6999" y="3451017"/>
              <a:ext cx="200831" cy="20848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88649" y="1533125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imes New Roman"/>
              <a:cs typeface="Times New Roman"/>
            </a:endParaRPr>
          </a:p>
          <a:p>
            <a:pPr marL="684530" marR="257810" indent="-42164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1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API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01476" y="2675375"/>
            <a:ext cx="5187950" cy="1006475"/>
            <a:chOff x="5801476" y="2675375"/>
            <a:chExt cx="5187950" cy="1006475"/>
          </a:xfrm>
        </p:grpSpPr>
        <p:sp>
          <p:nvSpPr>
            <p:cNvPr id="16" name="object 16"/>
            <p:cNvSpPr/>
            <p:nvPr/>
          </p:nvSpPr>
          <p:spPr>
            <a:xfrm>
              <a:off x="8383249" y="2694425"/>
              <a:ext cx="733425" cy="797560"/>
            </a:xfrm>
            <a:custGeom>
              <a:avLst/>
              <a:gdLst/>
              <a:ahLst/>
              <a:cxnLst/>
              <a:rect l="l" t="t" r="r" b="b"/>
              <a:pathLst>
                <a:path w="733425" h="797560">
                  <a:moveTo>
                    <a:pt x="0" y="0"/>
                  </a:moveTo>
                  <a:lnTo>
                    <a:pt x="732968" y="797125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0845" y="3429904"/>
              <a:ext cx="201454" cy="20797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82728" y="2694434"/>
              <a:ext cx="2400935" cy="886460"/>
            </a:xfrm>
            <a:custGeom>
              <a:avLst/>
              <a:gdLst/>
              <a:ahLst/>
              <a:cxnLst/>
              <a:rect l="l" t="t" r="r" b="b"/>
              <a:pathLst>
                <a:path w="2400934" h="886460">
                  <a:moveTo>
                    <a:pt x="2400646" y="0"/>
                  </a:moveTo>
                  <a:lnTo>
                    <a:pt x="0" y="886231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1476" y="3502579"/>
              <a:ext cx="222095" cy="15701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383249" y="2694425"/>
              <a:ext cx="2425065" cy="907415"/>
            </a:xfrm>
            <a:custGeom>
              <a:avLst/>
              <a:gdLst/>
              <a:ahLst/>
              <a:cxnLst/>
              <a:rect l="l" t="t" r="r" b="b"/>
              <a:pathLst>
                <a:path w="2425065" h="907414">
                  <a:moveTo>
                    <a:pt x="0" y="0"/>
                  </a:moveTo>
                  <a:lnTo>
                    <a:pt x="2424992" y="907201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67142" y="3523634"/>
              <a:ext cx="222089" cy="1576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355137" y="5436725"/>
            <a:ext cx="2056764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160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Response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json</a:t>
            </a:r>
            <a:endParaRPr sz="1800">
              <a:latin typeface="Arial"/>
              <a:cs typeface="Arial"/>
            </a:endParaRPr>
          </a:p>
          <a:p>
            <a:pPr marL="468630" marR="461645" indent="-635"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&gt;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Pandas Dataframe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49225" y="4430369"/>
            <a:ext cx="5292725" cy="1006475"/>
            <a:chOff x="5749225" y="4430369"/>
            <a:chExt cx="5292725" cy="1006475"/>
          </a:xfrm>
        </p:grpSpPr>
        <p:sp>
          <p:nvSpPr>
            <p:cNvPr id="24" name="object 24"/>
            <p:cNvSpPr/>
            <p:nvPr/>
          </p:nvSpPr>
          <p:spPr>
            <a:xfrm>
              <a:off x="8536159" y="4449419"/>
              <a:ext cx="735330" cy="817880"/>
            </a:xfrm>
            <a:custGeom>
              <a:avLst/>
              <a:gdLst/>
              <a:ahLst/>
              <a:cxnLst/>
              <a:rect l="l" t="t" r="r" b="b"/>
              <a:pathLst>
                <a:path w="735329" h="817879">
                  <a:moveTo>
                    <a:pt x="734857" y="0"/>
                  </a:moveTo>
                  <a:lnTo>
                    <a:pt x="0" y="817308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01507" y="5205602"/>
              <a:ext cx="200499" cy="2087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488750" y="4471224"/>
              <a:ext cx="739775" cy="798195"/>
            </a:xfrm>
            <a:custGeom>
              <a:avLst/>
              <a:gdLst/>
              <a:ahLst/>
              <a:cxnLst/>
              <a:rect l="l" t="t" r="r" b="b"/>
              <a:pathLst>
                <a:path w="739775" h="798195">
                  <a:moveTo>
                    <a:pt x="0" y="0"/>
                  </a:moveTo>
                  <a:lnTo>
                    <a:pt x="739220" y="797723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62761" y="5207124"/>
              <a:ext cx="201780" cy="20769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597979" y="4471212"/>
              <a:ext cx="2424430" cy="887094"/>
            </a:xfrm>
            <a:custGeom>
              <a:avLst/>
              <a:gdLst/>
              <a:ahLst/>
              <a:cxnLst/>
              <a:rect l="l" t="t" r="r" b="b"/>
              <a:pathLst>
                <a:path w="2424429" h="887095">
                  <a:moveTo>
                    <a:pt x="2424413" y="0"/>
                  </a:moveTo>
                  <a:lnTo>
                    <a:pt x="0" y="886865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16550" y="5279927"/>
              <a:ext cx="222097" cy="1565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768275" y="4449434"/>
              <a:ext cx="2401570" cy="906780"/>
            </a:xfrm>
            <a:custGeom>
              <a:avLst/>
              <a:gdLst/>
              <a:ahLst/>
              <a:cxnLst/>
              <a:rect l="l" t="t" r="r" b="b"/>
              <a:pathLst>
                <a:path w="2401570" h="906779">
                  <a:moveTo>
                    <a:pt x="0" y="0"/>
                  </a:moveTo>
                  <a:lnTo>
                    <a:pt x="2401234" y="906557"/>
                  </a:lnTo>
                </a:path>
              </a:pathLst>
            </a:custGeom>
            <a:ln w="380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28231" y="5278067"/>
              <a:ext cx="222084" cy="1580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46564" y="6083644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1B7DDB"/>
                </a:solidFill>
                <a:latin typeface="Arial MT"/>
                <a:cs typeface="Arial MT"/>
              </a:rPr>
              <a:t>9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5162" y="1756220"/>
            <a:ext cx="3452495" cy="233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 algn="just">
              <a:lnSpc>
                <a:spcPct val="115000"/>
              </a:lnSpc>
              <a:spcBef>
                <a:spcPts val="100"/>
              </a:spcBef>
              <a:buClr>
                <a:srgbClr val="000000"/>
              </a:buClr>
              <a:buSzPct val="50000"/>
              <a:buChar char="•"/>
              <a:tabLst>
                <a:tab pos="28956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Extract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Falcon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9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launch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records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HTML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table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from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Wikipedia</a:t>
            </a:r>
            <a:endParaRPr sz="2200">
              <a:latin typeface="Arial MT"/>
              <a:cs typeface="Arial MT"/>
            </a:endParaRPr>
          </a:p>
          <a:p>
            <a:pPr marL="289560" marR="237490" indent="-277495">
              <a:lnSpc>
                <a:spcPct val="115000"/>
              </a:lnSpc>
              <a:buClr>
                <a:srgbClr val="000000"/>
              </a:buClr>
              <a:buSzPct val="50000"/>
              <a:buChar char="•"/>
              <a:tabLst>
                <a:tab pos="28956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Parse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table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convert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it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into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Pandas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frame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7336" y="4810823"/>
            <a:ext cx="3716654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199390" algn="l"/>
              </a:tabLst>
            </a:pP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https://github.com/zanevc55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55/IBM_DataScience_Capst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one/blob/main/jupyter-labs-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webscraping.ipynb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598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10" dirty="0"/>
              <a:t> </a:t>
            </a:r>
            <a:r>
              <a:rPr dirty="0"/>
              <a:t>Collection</a:t>
            </a:r>
            <a:r>
              <a:rPr spc="-110" dirty="0"/>
              <a:t> </a:t>
            </a:r>
            <a:r>
              <a:rPr dirty="0"/>
              <a:t>-</a:t>
            </a:r>
            <a:r>
              <a:rPr spc="-110" dirty="0"/>
              <a:t> </a:t>
            </a:r>
            <a:r>
              <a:rPr spc="-10" dirty="0"/>
              <a:t>Scraping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6199299" y="1698949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160020" rIns="0" bIns="0" rtlCol="0">
            <a:spAutoFit/>
          </a:bodyPr>
          <a:lstStyle/>
          <a:p>
            <a:pPr marL="96520" marR="89535" algn="ctr">
              <a:lnSpc>
                <a:spcPct val="100000"/>
              </a:lnSpc>
              <a:spcBef>
                <a:spcPts val="126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r>
              <a:rPr sz="1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Request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Wikipedia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06137" y="1698949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22860" rIns="0" bIns="0" rtlCol="0">
            <a:spAutoFit/>
          </a:bodyPr>
          <a:lstStyle/>
          <a:p>
            <a:pPr marL="119380" marR="114300" indent="1270" algn="ctr">
              <a:lnSpc>
                <a:spcPct val="100000"/>
              </a:lnSpc>
              <a:spcBef>
                <a:spcPts val="18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Load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page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contents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into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BeautifulSoup object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9299" y="427162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34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imes New Roman"/>
              <a:cs typeface="Times New Roman"/>
            </a:endParaRPr>
          </a:p>
          <a:p>
            <a:pPr marL="100330" marR="94615" indent="139065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Extract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&lt;td&gt;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tags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6149" y="427162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70180" marR="163195" indent="336550">
              <a:lnSpc>
                <a:spcPct val="100000"/>
              </a:lnSpc>
              <a:spcBef>
                <a:spcPts val="126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Extract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headers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endParaRPr sz="1800">
              <a:latin typeface="Arial"/>
              <a:cs typeface="Arial"/>
            </a:endParaRPr>
          </a:p>
          <a:p>
            <a:pPr marL="38608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&lt;th&gt;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tags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64162" y="2115666"/>
            <a:ext cx="855344" cy="328295"/>
            <a:chOff x="8264162" y="2115666"/>
            <a:chExt cx="855344" cy="328295"/>
          </a:xfrm>
        </p:grpSpPr>
        <p:sp>
          <p:nvSpPr>
            <p:cNvPr id="11" name="object 11"/>
            <p:cNvSpPr/>
            <p:nvPr/>
          </p:nvSpPr>
          <p:spPr>
            <a:xfrm>
              <a:off x="8302262" y="2279628"/>
              <a:ext cx="433070" cy="1270"/>
            </a:xfrm>
            <a:custGeom>
              <a:avLst/>
              <a:gdLst/>
              <a:ahLst/>
              <a:cxnLst/>
              <a:rect l="l" t="t" r="r" b="b"/>
              <a:pathLst>
                <a:path w="433070" h="1269">
                  <a:moveTo>
                    <a:pt x="0" y="1021"/>
                  </a:moveTo>
                  <a:lnTo>
                    <a:pt x="432901" y="0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34867" y="2153766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4">
                  <a:moveTo>
                    <a:pt x="593" y="251723"/>
                  </a:moveTo>
                  <a:lnTo>
                    <a:pt x="0" y="0"/>
                  </a:lnTo>
                  <a:lnTo>
                    <a:pt x="346097" y="125045"/>
                  </a:lnTo>
                  <a:lnTo>
                    <a:pt x="593" y="251723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734867" y="2153766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4">
                  <a:moveTo>
                    <a:pt x="593" y="251723"/>
                  </a:moveTo>
                  <a:lnTo>
                    <a:pt x="346097" y="125045"/>
                  </a:lnTo>
                  <a:lnTo>
                    <a:pt x="0" y="0"/>
                  </a:lnTo>
                  <a:lnTo>
                    <a:pt x="593" y="251723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8331155" y="4699346"/>
            <a:ext cx="875030" cy="328295"/>
            <a:chOff x="8331155" y="4699346"/>
            <a:chExt cx="875030" cy="328295"/>
          </a:xfrm>
        </p:grpSpPr>
        <p:sp>
          <p:nvSpPr>
            <p:cNvPr id="15" name="object 15"/>
            <p:cNvSpPr/>
            <p:nvPr/>
          </p:nvSpPr>
          <p:spPr>
            <a:xfrm>
              <a:off x="8715007" y="4855524"/>
              <a:ext cx="453390" cy="8255"/>
            </a:xfrm>
            <a:custGeom>
              <a:avLst/>
              <a:gdLst/>
              <a:ahLst/>
              <a:cxnLst/>
              <a:rect l="l" t="t" r="r" b="b"/>
              <a:pathLst>
                <a:path w="453390" h="8254">
                  <a:moveTo>
                    <a:pt x="453067" y="0"/>
                  </a:moveTo>
                  <a:lnTo>
                    <a:pt x="0" y="7765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369255" y="4737446"/>
              <a:ext cx="347980" cy="252095"/>
            </a:xfrm>
            <a:custGeom>
              <a:avLst/>
              <a:gdLst/>
              <a:ahLst/>
              <a:cxnLst/>
              <a:rect l="l" t="t" r="r" b="b"/>
              <a:pathLst>
                <a:path w="347979" h="252095">
                  <a:moveTo>
                    <a:pt x="347909" y="251686"/>
                  </a:moveTo>
                  <a:lnTo>
                    <a:pt x="0" y="131769"/>
                  </a:lnTo>
                  <a:lnTo>
                    <a:pt x="343595" y="0"/>
                  </a:lnTo>
                  <a:lnTo>
                    <a:pt x="347909" y="251686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369255" y="4737446"/>
              <a:ext cx="347980" cy="252095"/>
            </a:xfrm>
            <a:custGeom>
              <a:avLst/>
              <a:gdLst/>
              <a:ahLst/>
              <a:cxnLst/>
              <a:rect l="l" t="t" r="r" b="b"/>
              <a:pathLst>
                <a:path w="347979" h="252095">
                  <a:moveTo>
                    <a:pt x="343595" y="0"/>
                  </a:moveTo>
                  <a:lnTo>
                    <a:pt x="0" y="131769"/>
                  </a:lnTo>
                  <a:lnTo>
                    <a:pt x="347909" y="251686"/>
                  </a:lnTo>
                  <a:lnTo>
                    <a:pt x="343595" y="0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10238444" y="2935037"/>
            <a:ext cx="328295" cy="1150620"/>
            <a:chOff x="10238444" y="2935037"/>
            <a:chExt cx="328295" cy="1150620"/>
          </a:xfrm>
        </p:grpSpPr>
        <p:sp>
          <p:nvSpPr>
            <p:cNvPr id="19" name="object 19"/>
            <p:cNvSpPr/>
            <p:nvPr/>
          </p:nvSpPr>
          <p:spPr>
            <a:xfrm>
              <a:off x="10393550" y="2973137"/>
              <a:ext cx="8890" cy="728980"/>
            </a:xfrm>
            <a:custGeom>
              <a:avLst/>
              <a:gdLst/>
              <a:ahLst/>
              <a:cxnLst/>
              <a:rect l="l" t="t" r="r" b="b"/>
              <a:pathLst>
                <a:path w="8890" h="728979">
                  <a:moveTo>
                    <a:pt x="0" y="0"/>
                  </a:moveTo>
                  <a:lnTo>
                    <a:pt x="8847" y="728433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276544" y="3700042"/>
              <a:ext cx="252095" cy="347345"/>
            </a:xfrm>
            <a:custGeom>
              <a:avLst/>
              <a:gdLst/>
              <a:ahLst/>
              <a:cxnLst/>
              <a:rect l="l" t="t" r="r" b="b"/>
              <a:pathLst>
                <a:path w="252095" h="347345">
                  <a:moveTo>
                    <a:pt x="130052" y="347306"/>
                  </a:moveTo>
                  <a:lnTo>
                    <a:pt x="0" y="3057"/>
                  </a:lnTo>
                  <a:lnTo>
                    <a:pt x="251705" y="0"/>
                  </a:lnTo>
                  <a:lnTo>
                    <a:pt x="130052" y="347306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276544" y="3700042"/>
              <a:ext cx="252095" cy="347345"/>
            </a:xfrm>
            <a:custGeom>
              <a:avLst/>
              <a:gdLst/>
              <a:ahLst/>
              <a:cxnLst/>
              <a:rect l="l" t="t" r="r" b="b"/>
              <a:pathLst>
                <a:path w="252095" h="347345">
                  <a:moveTo>
                    <a:pt x="0" y="3057"/>
                  </a:moveTo>
                  <a:lnTo>
                    <a:pt x="130052" y="347306"/>
                  </a:lnTo>
                  <a:lnTo>
                    <a:pt x="251705" y="0"/>
                  </a:lnTo>
                  <a:lnTo>
                    <a:pt x="0" y="3057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3582" y="6083644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B7DDB"/>
                </a:solidFill>
                <a:latin typeface="Arial MT"/>
                <a:cs typeface="Arial MT"/>
              </a:rPr>
              <a:t>10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7025" y="1413745"/>
            <a:ext cx="9099550" cy="27686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Problem:</a:t>
            </a:r>
            <a:endParaRPr sz="2800">
              <a:latin typeface="Arial MT"/>
              <a:cs typeface="Arial MT"/>
            </a:endParaRPr>
          </a:p>
          <a:p>
            <a:pPr marL="469265" indent="-412115">
              <a:lnSpc>
                <a:spcPts val="2735"/>
              </a:lnSpc>
              <a:spcBef>
                <a:spcPts val="720"/>
              </a:spcBef>
              <a:buChar char="●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Dataset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formatted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modelling</a:t>
            </a:r>
            <a:endParaRPr sz="2400">
              <a:latin typeface="Arial MT"/>
              <a:cs typeface="Arial MT"/>
            </a:endParaRPr>
          </a:p>
          <a:p>
            <a:pPr marL="469265" indent="-412115">
              <a:lnSpc>
                <a:spcPts val="2735"/>
              </a:lnSpc>
              <a:buChar char="●"/>
              <a:tabLst>
                <a:tab pos="469265" algn="l"/>
              </a:tabLst>
            </a:pPr>
            <a:r>
              <a:rPr sz="2400" spc="-40" dirty="0">
                <a:latin typeface="Arial MT"/>
                <a:cs typeface="Arial MT"/>
              </a:rPr>
              <a:t>Target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specific;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False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outcomes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90"/>
              </a:spcBef>
              <a:buFont typeface="Arial MT"/>
              <a:buChar char="●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Solution:</a:t>
            </a:r>
            <a:endParaRPr sz="2800">
              <a:latin typeface="Arial MT"/>
              <a:cs typeface="Arial MT"/>
            </a:endParaRPr>
          </a:p>
          <a:p>
            <a:pPr marL="469265" indent="-412115">
              <a:lnSpc>
                <a:spcPct val="100000"/>
              </a:lnSpc>
              <a:spcBef>
                <a:spcPts val="720"/>
              </a:spcBef>
              <a:buChar char="●"/>
              <a:tabLst>
                <a:tab pos="469265" algn="l"/>
              </a:tabLst>
            </a:pPr>
            <a:r>
              <a:rPr sz="2400" spc="-10" dirty="0">
                <a:latin typeface="Arial MT"/>
                <a:cs typeface="Arial MT"/>
              </a:rPr>
              <a:t>Transform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categorical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target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binary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numerical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00" dirty="0"/>
              <a:t> </a:t>
            </a:r>
            <a:r>
              <a:rPr spc="-10" dirty="0"/>
              <a:t>Wrangling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600200" y="487706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160020" rIns="0" bIns="0" rtlCol="0">
            <a:spAutoFit/>
          </a:bodyPr>
          <a:lstStyle/>
          <a:p>
            <a:pPr marL="93980" marR="87630" algn="ctr">
              <a:lnSpc>
                <a:spcPct val="100000"/>
              </a:lnSpc>
              <a:spcBef>
                <a:spcPts val="126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Inspect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launch categorical subsets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4467" y="487706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25730" marR="120015" indent="1270" algn="ctr">
              <a:lnSpc>
                <a:spcPct val="100000"/>
              </a:lnSpc>
              <a:spcBef>
                <a:spcPts val="126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Inspect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null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4729" y="4800864"/>
            <a:ext cx="1789430" cy="1161415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22860" rIns="0" bIns="0" rtlCol="0">
            <a:spAutoFit/>
          </a:bodyPr>
          <a:lstStyle/>
          <a:p>
            <a:pPr marL="322580" marR="316865" indent="1270" algn="ctr">
              <a:lnSpc>
                <a:spcPct val="100000"/>
              </a:lnSpc>
              <a:spcBef>
                <a:spcPts val="18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Transform ‘landing outcomes’ column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70407" y="5143287"/>
            <a:ext cx="855344" cy="328295"/>
            <a:chOff x="3656437" y="5081692"/>
            <a:chExt cx="855344" cy="328295"/>
          </a:xfrm>
        </p:grpSpPr>
        <p:sp>
          <p:nvSpPr>
            <p:cNvPr id="9" name="object 9"/>
            <p:cNvSpPr/>
            <p:nvPr/>
          </p:nvSpPr>
          <p:spPr>
            <a:xfrm>
              <a:off x="3694537" y="5245653"/>
              <a:ext cx="433070" cy="1270"/>
            </a:xfrm>
            <a:custGeom>
              <a:avLst/>
              <a:gdLst/>
              <a:ahLst/>
              <a:cxnLst/>
              <a:rect l="l" t="t" r="r" b="b"/>
              <a:pathLst>
                <a:path w="433070" h="1270">
                  <a:moveTo>
                    <a:pt x="0" y="1021"/>
                  </a:moveTo>
                  <a:lnTo>
                    <a:pt x="432901" y="0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127141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593" y="251722"/>
                  </a:moveTo>
                  <a:lnTo>
                    <a:pt x="0" y="0"/>
                  </a:lnTo>
                  <a:lnTo>
                    <a:pt x="346099" y="125045"/>
                  </a:lnTo>
                  <a:lnTo>
                    <a:pt x="593" y="251722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27141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10" h="252095">
                  <a:moveTo>
                    <a:pt x="593" y="251722"/>
                  </a:moveTo>
                  <a:lnTo>
                    <a:pt x="346099" y="125045"/>
                  </a:lnTo>
                  <a:lnTo>
                    <a:pt x="0" y="0"/>
                  </a:lnTo>
                  <a:lnTo>
                    <a:pt x="593" y="251722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6768132" y="5207422"/>
            <a:ext cx="855344" cy="328295"/>
            <a:chOff x="6773212" y="5081692"/>
            <a:chExt cx="855344" cy="328295"/>
          </a:xfrm>
        </p:grpSpPr>
        <p:sp>
          <p:nvSpPr>
            <p:cNvPr id="13" name="object 13"/>
            <p:cNvSpPr/>
            <p:nvPr/>
          </p:nvSpPr>
          <p:spPr>
            <a:xfrm>
              <a:off x="6811312" y="5245653"/>
              <a:ext cx="433070" cy="1270"/>
            </a:xfrm>
            <a:custGeom>
              <a:avLst/>
              <a:gdLst/>
              <a:ahLst/>
              <a:cxnLst/>
              <a:rect l="l" t="t" r="r" b="b"/>
              <a:pathLst>
                <a:path w="433070" h="1270">
                  <a:moveTo>
                    <a:pt x="0" y="1021"/>
                  </a:moveTo>
                  <a:lnTo>
                    <a:pt x="432901" y="0"/>
                  </a:lnTo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43917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5">
                  <a:moveTo>
                    <a:pt x="593" y="251722"/>
                  </a:moveTo>
                  <a:lnTo>
                    <a:pt x="0" y="0"/>
                  </a:lnTo>
                  <a:lnTo>
                    <a:pt x="346097" y="125045"/>
                  </a:lnTo>
                  <a:lnTo>
                    <a:pt x="593" y="251722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243917" y="5119792"/>
              <a:ext cx="346710" cy="252095"/>
            </a:xfrm>
            <a:custGeom>
              <a:avLst/>
              <a:gdLst/>
              <a:ahLst/>
              <a:cxnLst/>
              <a:rect l="l" t="t" r="r" b="b"/>
              <a:pathLst>
                <a:path w="346709" h="252095">
                  <a:moveTo>
                    <a:pt x="593" y="251722"/>
                  </a:moveTo>
                  <a:lnTo>
                    <a:pt x="346097" y="125045"/>
                  </a:lnTo>
                  <a:lnTo>
                    <a:pt x="0" y="0"/>
                  </a:lnTo>
                  <a:lnTo>
                    <a:pt x="593" y="251722"/>
                  </a:lnTo>
                  <a:close/>
                </a:path>
              </a:pathLst>
            </a:custGeom>
            <a:ln w="76199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19600" y="6351062"/>
            <a:ext cx="37858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https://github.com/zanevc5555/IBM_DataScience_Capstone/</a:t>
            </a:r>
            <a:r>
              <a:rPr sz="11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blob/main/labs-jupyter-</a:t>
            </a:r>
            <a:r>
              <a:rPr sz="11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spacex-</a:t>
            </a: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Data%20wrangling.ipynb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8662" y="6083644"/>
            <a:ext cx="23685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0" dirty="0">
                <a:solidFill>
                  <a:srgbClr val="1B7DDB"/>
                </a:solidFill>
                <a:latin typeface="Arial MT"/>
                <a:cs typeface="Arial MT"/>
              </a:rPr>
              <a:t>11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925" y="1836292"/>
            <a:ext cx="9417050" cy="310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00"/>
              </a:spcBef>
            </a:pPr>
            <a:r>
              <a:rPr sz="2900" u="heavy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Chart</a:t>
            </a:r>
            <a:r>
              <a:rPr sz="2900" u="heavy" spc="-14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 </a:t>
            </a:r>
            <a:r>
              <a:rPr sz="2900" u="heavy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Types: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900">
              <a:latin typeface="Arial MT"/>
              <a:cs typeface="Arial MT"/>
            </a:endParaRPr>
          </a:p>
          <a:p>
            <a:pPr marL="347980" marR="5080" indent="-335915">
              <a:lnSpc>
                <a:spcPct val="100000"/>
              </a:lnSpc>
              <a:buChar char="•"/>
              <a:tabLst>
                <a:tab pos="347980" algn="l"/>
              </a:tabLst>
            </a:pP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Scatter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Plots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(Flight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Number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vs.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Feature)</a:t>
            </a:r>
            <a:r>
              <a:rPr sz="24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Observe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overall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trend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feature</a:t>
            </a:r>
            <a:r>
              <a:rPr sz="24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variables.</a:t>
            </a:r>
            <a:endParaRPr sz="2400">
              <a:latin typeface="Arial MT"/>
              <a:cs typeface="Arial MT"/>
            </a:endParaRPr>
          </a:p>
          <a:p>
            <a:pPr marL="347980" marR="375920" indent="-335915">
              <a:lnSpc>
                <a:spcPct val="100000"/>
              </a:lnSpc>
              <a:buChar char="•"/>
              <a:tabLst>
                <a:tab pos="347980" algn="l"/>
              </a:tabLst>
            </a:pP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Scatter</a:t>
            </a:r>
            <a:r>
              <a:rPr sz="24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Plots</a:t>
            </a:r>
            <a:r>
              <a:rPr sz="24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(Payload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r>
              <a:rPr sz="24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vs.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Feature)</a:t>
            </a:r>
            <a:r>
              <a:rPr sz="24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Characterise</a:t>
            </a:r>
            <a:r>
              <a:rPr sz="24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SpaceX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4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4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4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mass.</a:t>
            </a:r>
            <a:endParaRPr sz="2400">
              <a:latin typeface="Arial MT"/>
              <a:cs typeface="Arial MT"/>
            </a:endParaRPr>
          </a:p>
          <a:p>
            <a:pPr marL="347980" marR="106045" indent="-335915">
              <a:lnSpc>
                <a:spcPct val="100000"/>
              </a:lnSpc>
              <a:buChar char="•"/>
              <a:tabLst>
                <a:tab pos="347980" algn="l"/>
              </a:tabLst>
            </a:pP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Bar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Plot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(Orbit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vs.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Class)</a:t>
            </a:r>
            <a:r>
              <a:rPr sz="24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Investigate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relationship</a:t>
            </a:r>
            <a:r>
              <a:rPr sz="2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between</a:t>
            </a:r>
            <a:r>
              <a:rPr sz="24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launch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orbit</a:t>
            </a:r>
            <a:r>
              <a:rPr sz="24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rate.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4935" y="5827648"/>
            <a:ext cx="94976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199390" algn="l"/>
              </a:tabLst>
            </a:pP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https://github.com/zanevc5555/IBM_DataScience_Capstone/blob/main/eda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563C1"/>
                </a:solidFill>
                <a:latin typeface="Arial MT"/>
                <a:cs typeface="Arial MT"/>
              </a:rPr>
              <a:t>	</a:t>
            </a:r>
            <a:r>
              <a:rPr sz="22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dataviz.ipynb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EDA</a:t>
            </a:r>
            <a:r>
              <a:rPr spc="-260" dirty="0"/>
              <a:t> </a:t>
            </a:r>
            <a:r>
              <a:rPr dirty="0"/>
              <a:t>with</a:t>
            </a:r>
            <a:r>
              <a:rPr spc="-80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Visualization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3582" y="6083644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B7DDB"/>
                </a:solidFill>
                <a:latin typeface="Arial MT"/>
                <a:cs typeface="Arial MT"/>
              </a:rPr>
              <a:t>12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9390" y="1487996"/>
            <a:ext cx="9074150" cy="45472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1085"/>
              </a:spcBef>
            </a:pPr>
            <a:r>
              <a:rPr sz="2900" u="heavy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SQL</a:t>
            </a:r>
            <a:r>
              <a:rPr sz="2900" u="heavy" spc="-12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 </a:t>
            </a:r>
            <a:r>
              <a:rPr sz="2900" u="heavy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Queries:</a:t>
            </a:r>
            <a:endParaRPr sz="290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2285"/>
              </a:spcBef>
              <a:buClr>
                <a:srgbClr val="292929"/>
              </a:buClr>
              <a:buSzPct val="160000"/>
              <a:buChar char="•"/>
              <a:tabLst>
                <a:tab pos="382905" algn="l"/>
              </a:tabLst>
            </a:pPr>
            <a:r>
              <a:rPr sz="2000" dirty="0">
                <a:latin typeface="Arial MT"/>
                <a:cs typeface="Arial MT"/>
              </a:rPr>
              <a:t>Display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unique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launch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mission</a:t>
            </a:r>
            <a:endParaRPr sz="200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2020"/>
              </a:spcBef>
              <a:buClr>
                <a:srgbClr val="292929"/>
              </a:buClr>
              <a:buSzPct val="160000"/>
              <a:buChar char="•"/>
              <a:tabLst>
                <a:tab pos="382905" algn="l"/>
              </a:tabLst>
            </a:pPr>
            <a:r>
              <a:rPr sz="2000" dirty="0">
                <a:latin typeface="Arial MT"/>
                <a:cs typeface="Arial MT"/>
              </a:rPr>
              <a:t>Display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total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payload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carried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boosters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launched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NASA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(CRS)</a:t>
            </a:r>
            <a:endParaRPr sz="200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2015"/>
              </a:spcBef>
              <a:buClr>
                <a:srgbClr val="292929"/>
              </a:buClr>
              <a:buSzPct val="160000"/>
              <a:buChar char="•"/>
              <a:tabLst>
                <a:tab pos="382905" algn="l"/>
              </a:tabLst>
            </a:pPr>
            <a:r>
              <a:rPr sz="2000" dirty="0">
                <a:latin typeface="Arial MT"/>
                <a:cs typeface="Arial MT"/>
              </a:rPr>
              <a:t>List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total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successful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failure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mission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outcomes</a:t>
            </a:r>
            <a:endParaRPr sz="2000">
              <a:latin typeface="Arial MT"/>
              <a:cs typeface="Arial MT"/>
            </a:endParaRPr>
          </a:p>
          <a:p>
            <a:pPr marL="383540" marR="386715" indent="-370840">
              <a:lnSpc>
                <a:spcPct val="136000"/>
              </a:lnSpc>
              <a:spcBef>
                <a:spcPts val="1150"/>
              </a:spcBef>
              <a:buClr>
                <a:srgbClr val="292929"/>
              </a:buClr>
              <a:buSzPct val="160000"/>
              <a:buChar char="•"/>
              <a:tabLst>
                <a:tab pos="383540" algn="l"/>
              </a:tabLst>
            </a:pPr>
            <a:r>
              <a:rPr sz="2000" dirty="0">
                <a:latin typeface="Arial MT"/>
                <a:cs typeface="Arial MT"/>
              </a:rPr>
              <a:t>List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successful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landing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outcome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was </a:t>
            </a:r>
            <a:r>
              <a:rPr sz="2000" spc="-10" dirty="0">
                <a:latin typeface="Arial MT"/>
                <a:cs typeface="Arial MT"/>
              </a:rPr>
              <a:t>achieved.</a:t>
            </a:r>
            <a:endParaRPr sz="2000">
              <a:latin typeface="Arial MT"/>
              <a:cs typeface="Arial MT"/>
            </a:endParaRPr>
          </a:p>
          <a:p>
            <a:pPr marL="382905" indent="-370205">
              <a:lnSpc>
                <a:spcPct val="100000"/>
              </a:lnSpc>
              <a:spcBef>
                <a:spcPts val="1515"/>
              </a:spcBef>
              <a:buClr>
                <a:srgbClr val="292929"/>
              </a:buClr>
              <a:buSzPct val="160000"/>
              <a:buChar char="•"/>
              <a:tabLst>
                <a:tab pos="382905" algn="l"/>
              </a:tabLst>
            </a:pPr>
            <a:r>
              <a:rPr sz="2000" dirty="0">
                <a:latin typeface="Arial MT"/>
                <a:cs typeface="Arial MT"/>
              </a:rPr>
              <a:t>Rank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landing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outcomes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Failure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(drone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ship)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Success</a:t>
            </a:r>
            <a:endParaRPr sz="2000">
              <a:latin typeface="Arial MT"/>
              <a:cs typeface="Arial MT"/>
            </a:endParaRPr>
          </a:p>
          <a:p>
            <a:pPr marL="383540" marR="187325">
              <a:lnSpc>
                <a:spcPct val="115000"/>
              </a:lnSpc>
              <a:spcBef>
                <a:spcPts val="500"/>
              </a:spcBef>
            </a:pPr>
            <a:r>
              <a:rPr sz="2000" dirty="0">
                <a:latin typeface="Arial MT"/>
                <a:cs typeface="Arial MT"/>
              </a:rPr>
              <a:t>(ground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pad))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2010-06-</a:t>
            </a:r>
            <a:r>
              <a:rPr sz="2000" dirty="0">
                <a:latin typeface="Arial MT"/>
                <a:cs typeface="Arial MT"/>
              </a:rPr>
              <a:t>04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2017-03-</a:t>
            </a:r>
            <a:r>
              <a:rPr sz="2000" dirty="0">
                <a:latin typeface="Arial MT"/>
                <a:cs typeface="Arial MT"/>
              </a:rPr>
              <a:t>20,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descending order.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3861" y="6237541"/>
            <a:ext cx="71964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 indent="-135890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148590" algn="l"/>
              </a:tabLst>
            </a:pP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https://github.com/zanevc5555/IBM_DataScience_Capstone/blob/main/jupyter-labs-eda-sql-coursera_sqllite.ipynb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EDA</a:t>
            </a:r>
            <a:r>
              <a:rPr spc="-26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25" dirty="0"/>
              <a:t>SQL</a:t>
            </a:r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3582" y="6083644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B7DDB"/>
                </a:solidFill>
                <a:latin typeface="Arial MT"/>
                <a:cs typeface="Arial MT"/>
              </a:rPr>
              <a:t>13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114" dirty="0"/>
              <a:t> </a:t>
            </a:r>
            <a:r>
              <a:rPr dirty="0"/>
              <a:t>an</a:t>
            </a:r>
            <a:r>
              <a:rPr spc="-110" dirty="0"/>
              <a:t> </a:t>
            </a:r>
            <a:r>
              <a:rPr dirty="0"/>
              <a:t>Interactive</a:t>
            </a:r>
            <a:r>
              <a:rPr spc="-110" dirty="0"/>
              <a:t> </a:t>
            </a:r>
            <a:r>
              <a:rPr dirty="0"/>
              <a:t>Map</a:t>
            </a:r>
            <a:r>
              <a:rPr spc="-114" dirty="0"/>
              <a:t> </a:t>
            </a:r>
            <a:r>
              <a:rPr dirty="0"/>
              <a:t>with</a:t>
            </a:r>
            <a:r>
              <a:rPr spc="-110" dirty="0"/>
              <a:t> </a:t>
            </a:r>
            <a:r>
              <a:rPr spc="-10" dirty="0"/>
              <a:t>Folium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42550" y="1451824"/>
            <a:ext cx="7348220" cy="5198110"/>
            <a:chOff x="442550" y="1451824"/>
            <a:chExt cx="7348220" cy="519811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2550" y="1451824"/>
              <a:ext cx="6795223" cy="51976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88760" y="2564299"/>
              <a:ext cx="3151505" cy="718185"/>
            </a:xfrm>
            <a:custGeom>
              <a:avLst/>
              <a:gdLst/>
              <a:ahLst/>
              <a:cxnLst/>
              <a:rect l="l" t="t" r="r" b="b"/>
              <a:pathLst>
                <a:path w="3151504" h="718185">
                  <a:moveTo>
                    <a:pt x="3151213" y="0"/>
                  </a:moveTo>
                  <a:lnTo>
                    <a:pt x="0" y="718108"/>
                  </a:lnTo>
                </a:path>
              </a:pathLst>
            </a:custGeom>
            <a:ln w="38099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1131" y="3202000"/>
              <a:ext cx="220661" cy="1608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07953" y="3897602"/>
              <a:ext cx="2863850" cy="189230"/>
            </a:xfrm>
            <a:custGeom>
              <a:avLst/>
              <a:gdLst/>
              <a:ahLst/>
              <a:cxnLst/>
              <a:rect l="l" t="t" r="r" b="b"/>
              <a:pathLst>
                <a:path w="2863850" h="189229">
                  <a:moveTo>
                    <a:pt x="2863395" y="188947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6377" y="3815757"/>
              <a:ext cx="214769" cy="1636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00580" y="4212099"/>
              <a:ext cx="3870960" cy="682625"/>
            </a:xfrm>
            <a:custGeom>
              <a:avLst/>
              <a:gdLst/>
              <a:ahLst/>
              <a:cxnLst/>
              <a:rect l="l" t="t" r="r" b="b"/>
              <a:pathLst>
                <a:path w="3870959" h="682625">
                  <a:moveTo>
                    <a:pt x="3870769" y="0"/>
                  </a:moveTo>
                  <a:lnTo>
                    <a:pt x="0" y="682126"/>
                  </a:lnTo>
                </a:path>
              </a:pathLst>
            </a:custGeom>
            <a:ln w="38099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1252" y="4813200"/>
              <a:ext cx="219299" cy="1620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51772" y="4933999"/>
              <a:ext cx="4341495" cy="686435"/>
            </a:xfrm>
            <a:custGeom>
              <a:avLst/>
              <a:gdLst/>
              <a:ahLst/>
              <a:cxnLst/>
              <a:rect l="l" t="t" r="r" b="b"/>
              <a:pathLst>
                <a:path w="4341495" h="686435">
                  <a:moveTo>
                    <a:pt x="4341102" y="0"/>
                  </a:moveTo>
                  <a:lnTo>
                    <a:pt x="0" y="686112"/>
                  </a:lnTo>
                </a:path>
              </a:pathLst>
            </a:custGeom>
            <a:ln w="38099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61940" y="5538902"/>
              <a:ext cx="218705" cy="16241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951017" y="1665801"/>
            <a:ext cx="3596640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sz="2800" u="heavy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Folium</a:t>
            </a:r>
            <a:r>
              <a:rPr sz="2800" u="heavy" spc="-8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Map</a:t>
            </a:r>
            <a:r>
              <a:rPr sz="2800" u="heavy" spc="-8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Features:</a:t>
            </a:r>
            <a:endParaRPr sz="2800">
              <a:latin typeface="Arial MT"/>
              <a:cs typeface="Arial MT"/>
            </a:endParaRPr>
          </a:p>
          <a:p>
            <a:pPr marL="394335" marR="5080" indent="-382270">
              <a:lnSpc>
                <a:spcPct val="100000"/>
              </a:lnSpc>
              <a:spcBef>
                <a:spcPts val="1430"/>
              </a:spcBef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MarkerCluster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object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groups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icons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coordinates,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green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red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failure.</a:t>
            </a:r>
            <a:endParaRPr sz="2000">
              <a:latin typeface="Arial MT"/>
              <a:cs typeface="Arial MT"/>
            </a:endParaRPr>
          </a:p>
          <a:p>
            <a:pPr marL="394335" marR="34290" indent="-382270">
              <a:lnSpc>
                <a:spcPct val="100000"/>
              </a:lnSpc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Circle</a:t>
            </a:r>
            <a:r>
              <a:rPr sz="20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object</a:t>
            </a:r>
            <a:r>
              <a:rPr sz="20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shows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coloured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zone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pop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up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label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selected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coordinate.</a:t>
            </a:r>
            <a:endParaRPr sz="2000">
              <a:latin typeface="Arial MT"/>
              <a:cs typeface="Arial MT"/>
            </a:endParaRPr>
          </a:p>
          <a:p>
            <a:pPr marL="394335" marR="229870" indent="-382270">
              <a:lnSpc>
                <a:spcPct val="100000"/>
              </a:lnSpc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Individual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markers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provide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text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label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each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of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interest.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3582" y="6083644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B7DDB"/>
                </a:solidFill>
                <a:latin typeface="Arial MT"/>
                <a:cs typeface="Arial MT"/>
              </a:rPr>
              <a:t>14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4935" y="1551588"/>
            <a:ext cx="9382125" cy="360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0"/>
              </a:spcBef>
            </a:pPr>
            <a:r>
              <a:rPr sz="2800" u="heavy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Dashboard</a:t>
            </a:r>
            <a:r>
              <a:rPr sz="2800" u="heavy" spc="-185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spc="-10" dirty="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</a:rPr>
              <a:t>Features:</a:t>
            </a:r>
            <a:endParaRPr sz="28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2770"/>
              </a:spcBef>
              <a:buChar char="•"/>
              <a:tabLst>
                <a:tab pos="19875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Dropdown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widget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choose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which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analyse.</a:t>
            </a:r>
            <a:endParaRPr sz="2200">
              <a:latin typeface="Arial MT"/>
              <a:cs typeface="Arial MT"/>
            </a:endParaRPr>
          </a:p>
          <a:p>
            <a:pPr marL="198120" marR="5080" indent="-186055">
              <a:lnSpc>
                <a:spcPts val="2380"/>
              </a:lnSpc>
              <a:spcBef>
                <a:spcPts val="2405"/>
              </a:spcBef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Pie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chart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visualise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distribution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successes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launch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site,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visualise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proportion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successes/failure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selected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site.</a:t>
            </a:r>
            <a:endParaRPr sz="2200">
              <a:latin typeface="Arial MT"/>
              <a:cs typeface="Arial MT"/>
            </a:endParaRPr>
          </a:p>
          <a:p>
            <a:pPr marL="198120" marR="777875" indent="-186055">
              <a:lnSpc>
                <a:spcPts val="2380"/>
              </a:lnSpc>
              <a:spcBef>
                <a:spcPts val="1395"/>
              </a:spcBef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Range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slider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filter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second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results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given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range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payload 	masses.</a:t>
            </a:r>
            <a:endParaRPr sz="2200">
              <a:latin typeface="Arial MT"/>
              <a:cs typeface="Arial MT"/>
            </a:endParaRPr>
          </a:p>
          <a:p>
            <a:pPr marL="198120" marR="436880" indent="-186055">
              <a:lnSpc>
                <a:spcPts val="2380"/>
              </a:lnSpc>
              <a:spcBef>
                <a:spcPts val="1390"/>
              </a:spcBef>
              <a:buChar char="•"/>
              <a:tabLst>
                <a:tab pos="19939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Second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Scatter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success/failure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ordered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payload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mass,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grouped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category.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110" dirty="0"/>
              <a:t> </a:t>
            </a:r>
            <a:r>
              <a:rPr dirty="0"/>
              <a:t>a</a:t>
            </a:r>
            <a:r>
              <a:rPr spc="-110" dirty="0"/>
              <a:t> </a:t>
            </a:r>
            <a:r>
              <a:rPr dirty="0"/>
              <a:t>Dashboard</a:t>
            </a:r>
            <a:r>
              <a:rPr spc="-105" dirty="0"/>
              <a:t> </a:t>
            </a:r>
            <a:r>
              <a:rPr dirty="0"/>
              <a:t>with</a:t>
            </a:r>
            <a:r>
              <a:rPr spc="-110" dirty="0"/>
              <a:t> </a:t>
            </a:r>
            <a:r>
              <a:rPr dirty="0"/>
              <a:t>Plotly</a:t>
            </a:r>
            <a:r>
              <a:rPr spc="-110" dirty="0"/>
              <a:t> </a:t>
            </a:r>
            <a:r>
              <a:rPr spc="-20" dirty="0"/>
              <a:t>Dash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1096225" y="5991663"/>
            <a:ext cx="413575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https://github.com/zanevc5555/IBM_DataScience_C</a:t>
            </a:r>
            <a:r>
              <a:rPr sz="14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apstone/blob/main/spacex_dash_app.py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3582" y="6083644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B7DDB"/>
                </a:solidFill>
                <a:latin typeface="Arial MT"/>
                <a:cs typeface="Arial MT"/>
              </a:rPr>
              <a:t>15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0215" y="1752472"/>
            <a:ext cx="4184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00"/>
              </a:spcBef>
              <a:buChar char="•"/>
              <a:tabLst>
                <a:tab pos="207010" algn="l"/>
              </a:tabLst>
            </a:pP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Standardise</a:t>
            </a:r>
            <a:r>
              <a:rPr sz="24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feature</a:t>
            </a:r>
            <a:r>
              <a:rPr sz="24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variables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15" y="2410840"/>
            <a:ext cx="374269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06375" marR="5080" indent="-194310">
              <a:lnSpc>
                <a:spcPts val="2590"/>
              </a:lnSpc>
              <a:spcBef>
                <a:spcPts val="425"/>
              </a:spcBef>
              <a:buChar char="•"/>
              <a:tabLst>
                <a:tab pos="207645" algn="l"/>
              </a:tabLst>
            </a:pP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Split</a:t>
            </a:r>
            <a:r>
              <a:rPr sz="24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4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into</a:t>
            </a:r>
            <a:r>
              <a:rPr sz="24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training</a:t>
            </a:r>
            <a:r>
              <a:rPr sz="24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400" spc="-25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testing</a:t>
            </a:r>
            <a:r>
              <a:rPr sz="24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92929"/>
                </a:solidFill>
                <a:latin typeface="Arial MT"/>
                <a:cs typeface="Arial MT"/>
              </a:rPr>
              <a:t>sets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15" y="3398392"/>
            <a:ext cx="39636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06375" marR="5080" indent="-194310">
              <a:lnSpc>
                <a:spcPts val="2590"/>
              </a:lnSpc>
              <a:spcBef>
                <a:spcPts val="425"/>
              </a:spcBef>
              <a:buChar char="•"/>
              <a:tabLst>
                <a:tab pos="207645" algn="l"/>
              </a:tabLst>
            </a:pP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Optimise</a:t>
            </a:r>
            <a:r>
              <a:rPr sz="24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model</a:t>
            </a:r>
            <a:r>
              <a:rPr sz="24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parameters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24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GridSearchCV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15" y="4385944"/>
            <a:ext cx="4133215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310">
              <a:lnSpc>
                <a:spcPts val="2735"/>
              </a:lnSpc>
              <a:spcBef>
                <a:spcPts val="100"/>
              </a:spcBef>
              <a:buChar char="•"/>
              <a:tabLst>
                <a:tab pos="207010" algn="l"/>
              </a:tabLst>
            </a:pP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Use</a:t>
            </a:r>
            <a:r>
              <a:rPr sz="24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metrics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such</a:t>
            </a:r>
            <a:r>
              <a:rPr sz="2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92929"/>
                </a:solidFill>
                <a:latin typeface="Arial MT"/>
                <a:cs typeface="Arial MT"/>
              </a:rPr>
              <a:t>as</a:t>
            </a:r>
            <a:endParaRPr sz="2400">
              <a:latin typeface="Arial MT"/>
              <a:cs typeface="Arial MT"/>
            </a:endParaRPr>
          </a:p>
          <a:p>
            <a:pPr marL="208280" marR="5080">
              <a:lnSpc>
                <a:spcPts val="2590"/>
              </a:lnSpc>
              <a:spcBef>
                <a:spcPts val="185"/>
              </a:spcBef>
            </a:pPr>
            <a:r>
              <a:rPr sz="2400" spc="-25" dirty="0">
                <a:solidFill>
                  <a:srgbClr val="292929"/>
                </a:solidFill>
                <a:latin typeface="Arial MT"/>
                <a:cs typeface="Arial MT"/>
              </a:rPr>
              <a:t>R-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squared</a:t>
            </a:r>
            <a:r>
              <a:rPr sz="24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4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29"/>
                </a:solidFill>
                <a:latin typeface="Arial MT"/>
                <a:cs typeface="Arial MT"/>
              </a:rPr>
              <a:t>evaluate</a:t>
            </a:r>
            <a:r>
              <a:rPr sz="24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29"/>
                </a:solidFill>
                <a:latin typeface="Arial MT"/>
                <a:cs typeface="Arial MT"/>
              </a:rPr>
              <a:t>model accuracy.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Predictive</a:t>
            </a:r>
            <a:r>
              <a:rPr spc="-235" dirty="0"/>
              <a:t> </a:t>
            </a:r>
            <a:r>
              <a:rPr dirty="0"/>
              <a:t>Analysis</a:t>
            </a:r>
            <a:r>
              <a:rPr spc="-80" dirty="0"/>
              <a:t> </a:t>
            </a:r>
            <a:r>
              <a:rPr spc="-10" dirty="0"/>
              <a:t>(Classification)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21425" y="6045338"/>
            <a:ext cx="38112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https://github.com/zanevc5555/IBM_DataScienc</a:t>
            </a:r>
            <a:r>
              <a:rPr sz="14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e_Capstone/blob/main/SpaceX_Machine%20Le</a:t>
            </a:r>
            <a:r>
              <a:rPr sz="14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1"/>
              </a:rPr>
              <a:t>arning%20Prediction_Part_5.ipynb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149" y="2607599"/>
            <a:ext cx="2061845" cy="1228090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Times New Roman"/>
              <a:cs typeface="Times New Roman"/>
            </a:endParaRPr>
          </a:p>
          <a:p>
            <a:pPr marL="407670" marR="403225" indent="18415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Logistic Regression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9900" y="4218049"/>
            <a:ext cx="2061845" cy="1228090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193040" rIns="0" bIns="0" rtlCol="0">
            <a:spAutoFit/>
          </a:bodyPr>
          <a:lstStyle/>
          <a:p>
            <a:pPr marL="325755" marR="318135" algn="ctr">
              <a:lnSpc>
                <a:spcPct val="100000"/>
              </a:lnSpc>
              <a:spcBef>
                <a:spcPts val="152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K-Nearest NeighboZZrs (KNN)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29900" y="2607599"/>
            <a:ext cx="2061845" cy="1228090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Times New Roman"/>
              <a:cs typeface="Times New Roman"/>
            </a:endParaRPr>
          </a:p>
          <a:p>
            <a:pPr marL="217805" marR="204470" indent="-6985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Vector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(SVM)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8149" y="4218049"/>
            <a:ext cx="2061845" cy="1228090"/>
          </a:xfrm>
          <a:prstGeom prst="rect">
            <a:avLst/>
          </a:prstGeom>
          <a:solidFill>
            <a:srgbClr val="005493"/>
          </a:solidFill>
        </p:spPr>
        <p:txBody>
          <a:bodyPr vert="horz" wrap="square" lIns="0" tIns="204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10"/>
              </a:spcBef>
            </a:pPr>
            <a:endParaRPr sz="18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28776" y="1734851"/>
            <a:ext cx="12687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Models: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6049" y="1643760"/>
            <a:ext cx="5320030" cy="156464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98755" indent="-186055">
              <a:lnSpc>
                <a:spcPct val="100000"/>
              </a:lnSpc>
              <a:spcBef>
                <a:spcPts val="1500"/>
              </a:spcBef>
              <a:buChar char="•"/>
              <a:tabLst>
                <a:tab pos="19875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Exploratory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results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875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Interactive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analytics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demo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screenshots</a:t>
            </a:r>
            <a:endParaRPr sz="2200">
              <a:latin typeface="Arial MT"/>
              <a:cs typeface="Arial MT"/>
            </a:endParaRPr>
          </a:p>
          <a:p>
            <a:pPr marL="198755" indent="-186055">
              <a:lnSpc>
                <a:spcPct val="100000"/>
              </a:lnSpc>
              <a:spcBef>
                <a:spcPts val="1400"/>
              </a:spcBef>
              <a:buChar char="•"/>
              <a:tabLst>
                <a:tab pos="19875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Predictive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results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3582" y="6102892"/>
            <a:ext cx="25146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spc="-25" dirty="0">
                <a:solidFill>
                  <a:srgbClr val="1B7DDB"/>
                </a:solidFill>
                <a:latin typeface="Arial MT"/>
                <a:cs typeface="Arial MT"/>
              </a:rPr>
              <a:t>16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Results</a:t>
            </a: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969" y="2529745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302" y="369331"/>
                </a:moveTo>
                <a:lnTo>
                  <a:pt x="0" y="369331"/>
                </a:lnTo>
                <a:lnTo>
                  <a:pt x="0" y="0"/>
                </a:lnTo>
                <a:lnTo>
                  <a:pt x="1058302" y="0"/>
                </a:lnTo>
                <a:lnTo>
                  <a:pt x="1058302" y="369331"/>
                </a:lnTo>
                <a:close/>
              </a:path>
            </a:pathLst>
          </a:custGeom>
          <a:solidFill>
            <a:srgbClr val="0948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0994" y="2546001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Flight</a:t>
            </a:r>
            <a:r>
              <a:rPr spc="-114" dirty="0"/>
              <a:t> </a:t>
            </a:r>
            <a:r>
              <a:rPr dirty="0"/>
              <a:t>Number</a:t>
            </a:r>
            <a:r>
              <a:rPr spc="-105" dirty="0"/>
              <a:t> </a:t>
            </a:r>
            <a:r>
              <a:rPr dirty="0"/>
              <a:t>vs.</a:t>
            </a:r>
            <a:r>
              <a:rPr spc="-110" dirty="0"/>
              <a:t> </a:t>
            </a:r>
            <a:r>
              <a:rPr dirty="0"/>
              <a:t>Launch</a:t>
            </a:r>
            <a:r>
              <a:rPr spc="-105" dirty="0"/>
              <a:t> </a:t>
            </a:r>
            <a:r>
              <a:rPr spc="-20" dirty="0"/>
              <a:t>Site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5461" y="1601049"/>
            <a:ext cx="5116278" cy="46330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06425" y="1653149"/>
            <a:ext cx="454406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scatter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plot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orders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SpaceX </a:t>
            </a:r>
            <a:r>
              <a:rPr sz="2200" dirty="0">
                <a:latin typeface="Arial MT"/>
                <a:cs typeface="Arial MT"/>
              </a:rPr>
              <a:t>launches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denotes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stage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outcome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as </a:t>
            </a:r>
            <a:r>
              <a:rPr sz="2200" dirty="0">
                <a:latin typeface="Arial MT"/>
                <a:cs typeface="Arial MT"/>
              </a:rPr>
              <a:t>dot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colour.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Blue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dots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failures, </a:t>
            </a:r>
            <a:r>
              <a:rPr sz="2200" dirty="0">
                <a:latin typeface="Arial MT"/>
                <a:cs typeface="Arial MT"/>
              </a:rPr>
              <a:t>while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dots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successes.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 marR="8445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category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CCAFS </a:t>
            </a:r>
            <a:r>
              <a:rPr sz="2200" b="1" dirty="0">
                <a:latin typeface="Arial"/>
                <a:cs typeface="Arial"/>
              </a:rPr>
              <a:t>SLC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40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features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both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highest </a:t>
            </a:r>
            <a:r>
              <a:rPr sz="2200" dirty="0">
                <a:latin typeface="Arial MT"/>
                <a:cs typeface="Arial MT"/>
              </a:rPr>
              <a:t>number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highest </a:t>
            </a:r>
            <a:r>
              <a:rPr sz="2200" dirty="0">
                <a:latin typeface="Arial MT"/>
                <a:cs typeface="Arial MT"/>
              </a:rPr>
              <a:t>proportion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failures.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50" y="1655779"/>
            <a:ext cx="3580129" cy="429387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36830">
              <a:lnSpc>
                <a:spcPts val="2110"/>
              </a:lnSpc>
              <a:spcBef>
                <a:spcPts val="610"/>
              </a:spcBef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This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shows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variation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masses corresponding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each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category,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alongside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outcome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each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launch.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80000"/>
              </a:lnSpc>
              <a:spcBef>
                <a:spcPts val="1430"/>
              </a:spcBef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majority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payloads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at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sites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b="1" spc="-10" dirty="0">
                <a:solidFill>
                  <a:srgbClr val="292929"/>
                </a:solidFill>
                <a:latin typeface="Arial"/>
                <a:cs typeface="Arial"/>
              </a:rPr>
              <a:t>CCFAS</a:t>
            </a:r>
            <a:r>
              <a:rPr sz="2200" b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SLC</a:t>
            </a:r>
            <a:r>
              <a:rPr sz="2200" b="1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40</a:t>
            </a:r>
            <a:r>
              <a:rPr sz="2200" b="1" spc="-3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&amp;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b="1" spc="-25" dirty="0">
                <a:solidFill>
                  <a:srgbClr val="292929"/>
                </a:solidFill>
                <a:latin typeface="Arial"/>
                <a:cs typeface="Arial"/>
              </a:rPr>
              <a:t>KSC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LC</a:t>
            </a:r>
            <a:r>
              <a:rPr sz="2200" b="1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39A</a:t>
            </a:r>
            <a:r>
              <a:rPr sz="2200" b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evenly distributed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across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  <a:p>
            <a:pPr marL="12700" marR="68580">
              <a:lnSpc>
                <a:spcPct val="80000"/>
              </a:lnSpc>
            </a:pP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500-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7000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kg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range,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while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payloads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launched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b="1" spc="-20" dirty="0">
                <a:solidFill>
                  <a:srgbClr val="292929"/>
                </a:solidFill>
                <a:latin typeface="Arial"/>
                <a:cs typeface="Arial"/>
              </a:rPr>
              <a:t>VAFB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SLC</a:t>
            </a:r>
            <a:r>
              <a:rPr sz="2200" b="1" spc="-5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4E</a:t>
            </a:r>
            <a:r>
              <a:rPr sz="2200" b="1" spc="-45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cluster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around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500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kg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mark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some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right skew.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Payload</a:t>
            </a:r>
            <a:r>
              <a:rPr spc="-114" dirty="0"/>
              <a:t> </a:t>
            </a:r>
            <a:r>
              <a:rPr dirty="0"/>
              <a:t>vs.</a:t>
            </a:r>
            <a:r>
              <a:rPr spc="-114" dirty="0"/>
              <a:t> </a:t>
            </a:r>
            <a:r>
              <a:rPr dirty="0"/>
              <a:t>Launch</a:t>
            </a:r>
            <a:r>
              <a:rPr spc="-114" dirty="0"/>
              <a:t> </a:t>
            </a:r>
            <a:r>
              <a:rPr spc="-20" dirty="0"/>
              <a:t>Site</a:t>
            </a:r>
            <a:endParaRPr spc="-2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54649" y="1695199"/>
            <a:ext cx="6229350" cy="41147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0225" y="1665049"/>
            <a:ext cx="3324225" cy="456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32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Bar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chart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proportion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stage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landing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successes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where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grouped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by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destination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payload orbit.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400"/>
              </a:spcBef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Payloads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sent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certain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orbits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like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GEO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,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SSO</a:t>
            </a:r>
            <a:r>
              <a:rPr sz="2200" b="1" spc="-2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VLEO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,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correspond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a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high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rate.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Orbits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like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ISS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,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LEO</a:t>
            </a:r>
            <a:r>
              <a:rPr sz="2200" b="1" spc="-40" dirty="0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200" b="1" dirty="0">
                <a:solidFill>
                  <a:srgbClr val="292929"/>
                </a:solidFill>
                <a:latin typeface="Arial"/>
                <a:cs typeface="Arial"/>
              </a:rPr>
              <a:t>MEO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,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correspond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~60%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rates.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Success</a:t>
            </a:r>
            <a:r>
              <a:rPr spc="-95" dirty="0"/>
              <a:t> </a:t>
            </a:r>
            <a:r>
              <a:rPr dirty="0"/>
              <a:t>Rate</a:t>
            </a:r>
            <a:r>
              <a:rPr spc="-90" dirty="0"/>
              <a:t> </a:t>
            </a:r>
            <a:r>
              <a:rPr dirty="0"/>
              <a:t>vs.</a:t>
            </a:r>
            <a:r>
              <a:rPr spc="-100" dirty="0"/>
              <a:t> </a:t>
            </a:r>
            <a:r>
              <a:rPr dirty="0"/>
              <a:t>Orbit</a:t>
            </a:r>
            <a:r>
              <a:rPr spc="-155" dirty="0"/>
              <a:t> </a:t>
            </a:r>
            <a:r>
              <a:rPr spc="-20" dirty="0"/>
              <a:t>Type</a:t>
            </a:r>
            <a:endParaRPr spc="-2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07500" y="1789499"/>
            <a:ext cx="5559874" cy="42360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Flight</a:t>
            </a:r>
            <a:r>
              <a:rPr spc="-105" dirty="0"/>
              <a:t> </a:t>
            </a:r>
            <a:r>
              <a:rPr dirty="0"/>
              <a:t>Number</a:t>
            </a:r>
            <a:r>
              <a:rPr spc="-95" dirty="0"/>
              <a:t> </a:t>
            </a:r>
            <a:r>
              <a:rPr dirty="0"/>
              <a:t>vs.</a:t>
            </a:r>
            <a:r>
              <a:rPr spc="-100" dirty="0"/>
              <a:t> </a:t>
            </a:r>
            <a:r>
              <a:rPr dirty="0"/>
              <a:t>Orbit</a:t>
            </a:r>
            <a:r>
              <a:rPr spc="-160" dirty="0"/>
              <a:t> </a:t>
            </a:r>
            <a:r>
              <a:rPr spc="-20" dirty="0"/>
              <a:t>Type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3400" y="1687524"/>
            <a:ext cx="5864401" cy="43380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14825" y="1951323"/>
            <a:ext cx="3286760" cy="371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1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Scatter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plot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showing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launches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grouped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orbit,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landing </a:t>
            </a:r>
            <a:r>
              <a:rPr sz="2200" dirty="0">
                <a:latin typeface="Arial MT"/>
                <a:cs typeface="Arial MT"/>
              </a:rPr>
              <a:t>outcome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represented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in </a:t>
            </a:r>
            <a:r>
              <a:rPr sz="2200" spc="-10" dirty="0">
                <a:latin typeface="Arial MT"/>
                <a:cs typeface="Arial MT"/>
              </a:rPr>
              <a:t>colour.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Many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been </a:t>
            </a:r>
            <a:r>
              <a:rPr sz="2200" dirty="0">
                <a:latin typeface="Arial MT"/>
                <a:cs typeface="Arial MT"/>
              </a:rPr>
              <a:t>sent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GTO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b="1" spc="-20" dirty="0">
                <a:latin typeface="Arial"/>
                <a:cs typeface="Arial"/>
              </a:rPr>
              <a:t>VLEO </a:t>
            </a:r>
            <a:r>
              <a:rPr sz="2200" dirty="0">
                <a:latin typeface="Arial MT"/>
                <a:cs typeface="Arial MT"/>
              </a:rPr>
              <a:t>orbits,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while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few </a:t>
            </a:r>
            <a:r>
              <a:rPr sz="2200" dirty="0">
                <a:latin typeface="Arial MT"/>
                <a:cs typeface="Arial MT"/>
              </a:rPr>
              <a:t>payloads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been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sent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HEO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MEO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spc="-10" dirty="0">
                <a:latin typeface="Arial MT"/>
                <a:cs typeface="Arial MT"/>
              </a:rPr>
              <a:t>orbits.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Payload</a:t>
            </a:r>
            <a:r>
              <a:rPr spc="-100" dirty="0"/>
              <a:t> </a:t>
            </a:r>
            <a:r>
              <a:rPr dirty="0"/>
              <a:t>vs.</a:t>
            </a:r>
            <a:r>
              <a:rPr spc="-105" dirty="0"/>
              <a:t> </a:t>
            </a:r>
            <a:r>
              <a:rPr dirty="0"/>
              <a:t>Orbit</a:t>
            </a:r>
            <a:r>
              <a:rPr spc="-160" dirty="0"/>
              <a:t> </a:t>
            </a:r>
            <a:r>
              <a:rPr spc="-20" dirty="0"/>
              <a:t>Type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3450" y="1773675"/>
            <a:ext cx="5973850" cy="43373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96925" y="1888549"/>
            <a:ext cx="4138929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02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Scatter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plot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launches </a:t>
            </a:r>
            <a:r>
              <a:rPr sz="2200" dirty="0">
                <a:latin typeface="Arial MT"/>
                <a:cs typeface="Arial MT"/>
              </a:rPr>
              <a:t>grouped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orbit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ordered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mass,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with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outcome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colour.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Most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orbits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groups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feature </a:t>
            </a:r>
            <a:r>
              <a:rPr sz="2200" dirty="0">
                <a:latin typeface="Arial MT"/>
                <a:cs typeface="Arial MT"/>
              </a:rPr>
              <a:t>launches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low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payload </a:t>
            </a:r>
            <a:r>
              <a:rPr sz="2200" dirty="0">
                <a:latin typeface="Arial MT"/>
                <a:cs typeface="Arial MT"/>
              </a:rPr>
              <a:t>masses,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however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launches </a:t>
            </a:r>
            <a:r>
              <a:rPr sz="2200" dirty="0">
                <a:latin typeface="Arial MT"/>
                <a:cs typeface="Arial MT"/>
              </a:rPr>
              <a:t>sent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VLEO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orbit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payload </a:t>
            </a:r>
            <a:r>
              <a:rPr sz="2200" dirty="0">
                <a:latin typeface="Arial MT"/>
                <a:cs typeface="Arial MT"/>
              </a:rPr>
              <a:t>masses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exceeding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13000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kg.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600" y="1778149"/>
            <a:ext cx="3891279" cy="288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589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Line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chart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showing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trends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in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annual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rate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across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years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2010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to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2020.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400"/>
              </a:spcBef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stage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success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rates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drastically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increased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from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zero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percent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nearly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ninety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percent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starting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2013.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Landing</a:t>
            </a:r>
            <a:r>
              <a:rPr sz="4000" spc="-114" dirty="0"/>
              <a:t> </a:t>
            </a:r>
            <a:r>
              <a:rPr sz="4000" dirty="0"/>
              <a:t>Success</a:t>
            </a:r>
            <a:r>
              <a:rPr sz="4000" spc="-165" dirty="0"/>
              <a:t> </a:t>
            </a:r>
            <a:r>
              <a:rPr sz="4000" spc="-60" dirty="0"/>
              <a:t>Yearly</a:t>
            </a:r>
            <a:r>
              <a:rPr sz="4000" spc="-170" dirty="0"/>
              <a:t> </a:t>
            </a:r>
            <a:r>
              <a:rPr sz="4000" spc="-10" dirty="0"/>
              <a:t>Trend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159607" y="1564800"/>
            <a:ext cx="5854766" cy="44607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80" dirty="0"/>
              <a:t> </a:t>
            </a:r>
            <a:r>
              <a:rPr dirty="0"/>
              <a:t>Launch</a:t>
            </a:r>
            <a:r>
              <a:rPr spc="-75" dirty="0"/>
              <a:t> </a:t>
            </a:r>
            <a:r>
              <a:rPr dirty="0"/>
              <a:t>Site</a:t>
            </a:r>
            <a:r>
              <a:rPr spc="-75" dirty="0"/>
              <a:t> </a:t>
            </a:r>
            <a:r>
              <a:rPr spc="-10" dirty="0"/>
              <a:t>Names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65900" y="1692723"/>
            <a:ext cx="2557649" cy="3323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72125" y="5388173"/>
            <a:ext cx="3004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four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SpaceX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payload </a:t>
            </a:r>
            <a:r>
              <a:rPr sz="2200" dirty="0">
                <a:latin typeface="Arial MT"/>
                <a:cs typeface="Arial MT"/>
              </a:rPr>
              <a:t>launch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sites.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Launch</a:t>
            </a:r>
            <a:r>
              <a:rPr spc="-100" dirty="0"/>
              <a:t> </a:t>
            </a:r>
            <a:r>
              <a:rPr dirty="0"/>
              <a:t>Site</a:t>
            </a:r>
            <a:r>
              <a:rPr spc="-100" dirty="0"/>
              <a:t> </a:t>
            </a:r>
            <a:r>
              <a:rPr dirty="0"/>
              <a:t>Names</a:t>
            </a:r>
            <a:r>
              <a:rPr spc="-100" dirty="0"/>
              <a:t> </a:t>
            </a:r>
            <a:r>
              <a:rPr dirty="0"/>
              <a:t>Begin</a:t>
            </a:r>
            <a:r>
              <a:rPr spc="-100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spc="-10" dirty="0"/>
              <a:t>'CCA'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0000" y="1414312"/>
            <a:ext cx="5505449" cy="52482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49850" y="2155349"/>
            <a:ext cx="2647950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five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entries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in </a:t>
            </a:r>
            <a:r>
              <a:rPr sz="2200" dirty="0">
                <a:latin typeface="Arial MT"/>
                <a:cs typeface="Arial MT"/>
              </a:rPr>
              <a:t>dataset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launch </a:t>
            </a:r>
            <a:r>
              <a:rPr sz="2200" dirty="0">
                <a:latin typeface="Arial MT"/>
                <a:cs typeface="Arial MT"/>
              </a:rPr>
              <a:t>site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starting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‘CCA’</a:t>
            </a:r>
            <a:r>
              <a:rPr sz="2200" spc="-10" dirty="0">
                <a:latin typeface="Arial MT"/>
                <a:cs typeface="Arial MT"/>
              </a:rPr>
              <a:t>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where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five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entries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were </a:t>
            </a:r>
            <a:r>
              <a:rPr sz="2200" dirty="0">
                <a:latin typeface="Arial MT"/>
                <a:cs typeface="Arial MT"/>
              </a:rPr>
              <a:t>launched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from </a:t>
            </a:r>
            <a:r>
              <a:rPr sz="2200" b="1" dirty="0">
                <a:latin typeface="Arial"/>
                <a:cs typeface="Arial"/>
              </a:rPr>
              <a:t>CCAFS</a:t>
            </a:r>
            <a:r>
              <a:rPr sz="2200" b="1" spc="-5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LC-40.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Total</a:t>
            </a:r>
            <a:r>
              <a:rPr spc="-170" dirty="0"/>
              <a:t> </a:t>
            </a:r>
            <a:r>
              <a:rPr dirty="0"/>
              <a:t>Payload</a:t>
            </a:r>
            <a:r>
              <a:rPr spc="-170" dirty="0"/>
              <a:t> </a:t>
            </a:r>
            <a:r>
              <a:rPr spc="-20" dirty="0"/>
              <a:t>Mass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42575" y="2087550"/>
            <a:ext cx="4213499" cy="12296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14825" y="3881623"/>
            <a:ext cx="53174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Sum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masses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NASA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(CRS) </a:t>
            </a:r>
            <a:r>
              <a:rPr sz="2200" dirty="0">
                <a:latin typeface="Arial MT"/>
                <a:cs typeface="Arial MT"/>
              </a:rPr>
              <a:t>payloads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launched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SpaceX.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20" dirty="0"/>
              <a:t> </a:t>
            </a:r>
            <a:r>
              <a:rPr dirty="0"/>
              <a:t>Payload</a:t>
            </a:r>
            <a:r>
              <a:rPr spc="-114" dirty="0"/>
              <a:t> </a:t>
            </a:r>
            <a:r>
              <a:rPr dirty="0"/>
              <a:t>Mass</a:t>
            </a:r>
            <a:r>
              <a:rPr spc="-114" dirty="0"/>
              <a:t> </a:t>
            </a:r>
            <a:r>
              <a:rPr dirty="0"/>
              <a:t>by</a:t>
            </a:r>
            <a:r>
              <a:rPr spc="-114" dirty="0"/>
              <a:t> </a:t>
            </a:r>
            <a:r>
              <a:rPr dirty="0"/>
              <a:t>F9</a:t>
            </a:r>
            <a:r>
              <a:rPr spc="-114" dirty="0"/>
              <a:t> </a:t>
            </a:r>
            <a:r>
              <a:rPr spc="-20" dirty="0"/>
              <a:t>v1.1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65388" y="2096350"/>
            <a:ext cx="4883699" cy="1848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7325" y="4509349"/>
            <a:ext cx="42494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Payloads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booster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F9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v1.1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mass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dirty="0">
                <a:latin typeface="Arial MT"/>
                <a:cs typeface="Arial MT"/>
              </a:rPr>
              <a:t>2928.4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kilograms.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First</a:t>
            </a:r>
            <a:r>
              <a:rPr spc="-170" dirty="0"/>
              <a:t> </a:t>
            </a:r>
            <a:r>
              <a:rPr dirty="0"/>
              <a:t>Successful</a:t>
            </a:r>
            <a:r>
              <a:rPr spc="-160" dirty="0"/>
              <a:t> </a:t>
            </a:r>
            <a:r>
              <a:rPr dirty="0"/>
              <a:t>Ground</a:t>
            </a:r>
            <a:r>
              <a:rPr spc="-160" dirty="0"/>
              <a:t> </a:t>
            </a:r>
            <a:r>
              <a:rPr dirty="0"/>
              <a:t>Landing</a:t>
            </a:r>
            <a:r>
              <a:rPr spc="-165" dirty="0"/>
              <a:t> </a:t>
            </a:r>
            <a:r>
              <a:rPr spc="-20" dirty="0"/>
              <a:t>Date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71725" y="2240566"/>
            <a:ext cx="2899099" cy="15164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22874" y="4179799"/>
            <a:ext cx="34099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successful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first </a:t>
            </a:r>
            <a:r>
              <a:rPr sz="2200" dirty="0">
                <a:latin typeface="Arial MT"/>
                <a:cs typeface="Arial MT"/>
              </a:rPr>
              <a:t>stage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during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12th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December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2015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1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/>
              <a:t>Successful</a:t>
            </a:r>
            <a:r>
              <a:rPr sz="2500" spc="-30" dirty="0"/>
              <a:t> </a:t>
            </a:r>
            <a:r>
              <a:rPr sz="2500" dirty="0"/>
              <a:t>Drone</a:t>
            </a:r>
            <a:r>
              <a:rPr sz="2500" spc="-30" dirty="0"/>
              <a:t> </a:t>
            </a:r>
            <a:r>
              <a:rPr sz="2500" dirty="0"/>
              <a:t>Ship</a:t>
            </a:r>
            <a:r>
              <a:rPr sz="2500" spc="-25" dirty="0"/>
              <a:t> </a:t>
            </a:r>
            <a:r>
              <a:rPr sz="2500" dirty="0"/>
              <a:t>Landing</a:t>
            </a:r>
            <a:r>
              <a:rPr sz="2500" spc="-30" dirty="0"/>
              <a:t> </a:t>
            </a:r>
            <a:r>
              <a:rPr sz="2500" dirty="0"/>
              <a:t>with</a:t>
            </a:r>
            <a:r>
              <a:rPr sz="2500" spc="-30" dirty="0"/>
              <a:t> </a:t>
            </a:r>
            <a:r>
              <a:rPr sz="2500" dirty="0"/>
              <a:t>Payload</a:t>
            </a:r>
            <a:r>
              <a:rPr sz="2500" spc="-25" dirty="0"/>
              <a:t> </a:t>
            </a:r>
            <a:r>
              <a:rPr sz="2500" dirty="0"/>
              <a:t>between</a:t>
            </a:r>
            <a:r>
              <a:rPr sz="2500" spc="-30" dirty="0"/>
              <a:t> </a:t>
            </a:r>
            <a:r>
              <a:rPr sz="2500" dirty="0"/>
              <a:t>4000</a:t>
            </a:r>
            <a:r>
              <a:rPr sz="2500" spc="-30" dirty="0"/>
              <a:t> </a:t>
            </a:r>
            <a:r>
              <a:rPr sz="2500" dirty="0"/>
              <a:t>and</a:t>
            </a:r>
            <a:r>
              <a:rPr sz="2500" spc="-25" dirty="0"/>
              <a:t> </a:t>
            </a:r>
            <a:r>
              <a:rPr sz="2500" spc="-20" dirty="0"/>
              <a:t>6000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68012" y="1906275"/>
            <a:ext cx="6524624" cy="3924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03125" y="2626149"/>
            <a:ext cx="299085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four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launches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successful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drone </a:t>
            </a:r>
            <a:r>
              <a:rPr sz="2200" dirty="0">
                <a:latin typeface="Arial MT"/>
                <a:cs typeface="Arial MT"/>
              </a:rPr>
              <a:t>ship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4000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6000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kilograms.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956" y="304920"/>
            <a:ext cx="10239375" cy="1051560"/>
          </a:xfrm>
          <a:prstGeom prst="rect">
            <a:avLst/>
          </a:prstGeom>
        </p:spPr>
        <p:txBody>
          <a:bodyPr vert="horz" wrap="square" lIns="0" tIns="981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5" dirty="0"/>
              <a:t>Total</a:t>
            </a:r>
            <a:r>
              <a:rPr sz="3100" spc="-85" dirty="0"/>
              <a:t> </a:t>
            </a:r>
            <a:r>
              <a:rPr sz="3100" dirty="0"/>
              <a:t>Number</a:t>
            </a:r>
            <a:r>
              <a:rPr sz="3100" spc="-85" dirty="0"/>
              <a:t> </a:t>
            </a:r>
            <a:r>
              <a:rPr sz="3100" dirty="0"/>
              <a:t>of</a:t>
            </a:r>
            <a:r>
              <a:rPr sz="3100" spc="-85" dirty="0"/>
              <a:t> </a:t>
            </a:r>
            <a:r>
              <a:rPr sz="3100" dirty="0"/>
              <a:t>Successful</a:t>
            </a:r>
            <a:r>
              <a:rPr sz="3100" spc="-85" dirty="0"/>
              <a:t> </a:t>
            </a:r>
            <a:r>
              <a:rPr sz="3100" dirty="0"/>
              <a:t>and</a:t>
            </a:r>
            <a:r>
              <a:rPr sz="3100" spc="-85" dirty="0"/>
              <a:t> </a:t>
            </a:r>
            <a:r>
              <a:rPr sz="3100" dirty="0"/>
              <a:t>Failure</a:t>
            </a:r>
            <a:r>
              <a:rPr sz="3100" spc="-80" dirty="0"/>
              <a:t> </a:t>
            </a:r>
            <a:r>
              <a:rPr sz="3100" dirty="0"/>
              <a:t>Mission</a:t>
            </a:r>
            <a:r>
              <a:rPr sz="3100" spc="-85" dirty="0"/>
              <a:t> </a:t>
            </a:r>
            <a:r>
              <a:rPr sz="3100" spc="-10" dirty="0"/>
              <a:t>Outcomes</a:t>
            </a:r>
            <a:endParaRPr sz="31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60250" y="1936099"/>
            <a:ext cx="2636724" cy="3876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92574" y="3002774"/>
            <a:ext cx="34391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latin typeface="Arial MT"/>
                <a:cs typeface="Arial MT"/>
              </a:rPr>
              <a:t>Total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successes: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61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-50" dirty="0">
                <a:latin typeface="Arial MT"/>
                <a:cs typeface="Arial MT"/>
              </a:rPr>
              <a:t>Total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failures: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10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Boosters</a:t>
            </a:r>
            <a:r>
              <a:rPr spc="-160" dirty="0"/>
              <a:t> </a:t>
            </a:r>
            <a:r>
              <a:rPr dirty="0"/>
              <a:t>Carried</a:t>
            </a:r>
            <a:r>
              <a:rPr spc="-160" dirty="0"/>
              <a:t> </a:t>
            </a:r>
            <a:r>
              <a:rPr dirty="0"/>
              <a:t>Maximum</a:t>
            </a:r>
            <a:r>
              <a:rPr spc="-155" dirty="0"/>
              <a:t> </a:t>
            </a:r>
            <a:r>
              <a:rPr spc="-10" dirty="0"/>
              <a:t>Payload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23019" y="1193377"/>
            <a:ext cx="1756030" cy="56646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33450" y="3395124"/>
            <a:ext cx="34410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maximum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mass </a:t>
            </a:r>
            <a:r>
              <a:rPr sz="2200" dirty="0">
                <a:latin typeface="Arial MT"/>
                <a:cs typeface="Arial MT"/>
              </a:rPr>
              <a:t>were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launched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using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dirty="0">
                <a:latin typeface="Arial MT"/>
                <a:cs typeface="Arial MT"/>
              </a:rPr>
              <a:t>these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boosters.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2015</a:t>
            </a:r>
            <a:r>
              <a:rPr spc="-130" dirty="0"/>
              <a:t> </a:t>
            </a:r>
            <a:r>
              <a:rPr dirty="0"/>
              <a:t>Launch</a:t>
            </a:r>
            <a:r>
              <a:rPr spc="-125" dirty="0"/>
              <a:t> </a:t>
            </a:r>
            <a:r>
              <a:rPr spc="-10" dirty="0"/>
              <a:t>Records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79662" y="1871650"/>
            <a:ext cx="4600574" cy="12001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94774" y="3520673"/>
            <a:ext cx="693229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two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resulted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drone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ship </a:t>
            </a:r>
            <a:r>
              <a:rPr sz="2200" dirty="0">
                <a:latin typeface="Arial MT"/>
                <a:cs typeface="Arial MT"/>
              </a:rPr>
              <a:t>failure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year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2015.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during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January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te </a:t>
            </a:r>
            <a:r>
              <a:rPr sz="2200" dirty="0">
                <a:latin typeface="Arial MT"/>
                <a:cs typeface="Arial MT"/>
              </a:rPr>
              <a:t>booster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version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F9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v1.1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B1012,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other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was </a:t>
            </a:r>
            <a:r>
              <a:rPr sz="2200" spc="-20" dirty="0">
                <a:latin typeface="Arial MT"/>
                <a:cs typeface="Arial MT"/>
              </a:rPr>
              <a:t>during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April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booster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version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F9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v1.1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B1015.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6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Rank</a:t>
            </a:r>
            <a:r>
              <a:rPr sz="2800" spc="-85" dirty="0"/>
              <a:t> </a:t>
            </a:r>
            <a:r>
              <a:rPr sz="2800" dirty="0"/>
              <a:t>Landing</a:t>
            </a:r>
            <a:r>
              <a:rPr sz="2800" spc="-80" dirty="0"/>
              <a:t> </a:t>
            </a:r>
            <a:r>
              <a:rPr sz="2800" dirty="0"/>
              <a:t>Outcomes</a:t>
            </a:r>
            <a:r>
              <a:rPr sz="2800" spc="-85" dirty="0"/>
              <a:t> </a:t>
            </a:r>
            <a:r>
              <a:rPr sz="2800" dirty="0"/>
              <a:t>Between</a:t>
            </a:r>
            <a:r>
              <a:rPr sz="2800" spc="-80" dirty="0"/>
              <a:t> </a:t>
            </a:r>
            <a:r>
              <a:rPr sz="2800" spc="-25" dirty="0"/>
              <a:t>2010-06-</a:t>
            </a:r>
            <a:r>
              <a:rPr sz="2800" dirty="0"/>
              <a:t>04</a:t>
            </a:r>
            <a:r>
              <a:rPr sz="2800" spc="-80" dirty="0"/>
              <a:t> </a:t>
            </a:r>
            <a:r>
              <a:rPr sz="2800" dirty="0"/>
              <a:t>and</a:t>
            </a:r>
            <a:r>
              <a:rPr sz="2800" spc="-85" dirty="0"/>
              <a:t> </a:t>
            </a:r>
            <a:r>
              <a:rPr sz="2800" spc="-25" dirty="0"/>
              <a:t>2017-03-20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17674" y="1738325"/>
            <a:ext cx="3103731" cy="4287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55325" y="1951323"/>
            <a:ext cx="3486150" cy="371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1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ranking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landing </a:t>
            </a:r>
            <a:r>
              <a:rPr sz="2200" dirty="0">
                <a:latin typeface="Arial MT"/>
                <a:cs typeface="Arial MT"/>
              </a:rPr>
              <a:t>outcomes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launches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4th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June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2010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20th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March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2017.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most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common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outcome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attempt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recover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stage,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least </a:t>
            </a:r>
            <a:r>
              <a:rPr sz="2200" dirty="0">
                <a:latin typeface="Arial MT"/>
                <a:cs typeface="Arial MT"/>
              </a:rPr>
              <a:t>common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outcome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precluded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landing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drone ship.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969" y="2529745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302" y="369331"/>
                </a:moveTo>
                <a:lnTo>
                  <a:pt x="0" y="369331"/>
                </a:lnTo>
                <a:lnTo>
                  <a:pt x="0" y="0"/>
                </a:lnTo>
                <a:lnTo>
                  <a:pt x="1058302" y="0"/>
                </a:lnTo>
                <a:lnTo>
                  <a:pt x="1058302" y="369331"/>
                </a:lnTo>
                <a:close/>
              </a:path>
            </a:pathLst>
          </a:custGeom>
          <a:solidFill>
            <a:srgbClr val="0948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0994" y="2546001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Global</a:t>
            </a:r>
            <a:r>
              <a:rPr sz="4000" spc="-75" dirty="0"/>
              <a:t> </a:t>
            </a:r>
            <a:r>
              <a:rPr sz="4000" dirty="0"/>
              <a:t>SpaceX</a:t>
            </a:r>
            <a:r>
              <a:rPr sz="4000" spc="-80" dirty="0"/>
              <a:t> </a:t>
            </a:r>
            <a:r>
              <a:rPr sz="4000" dirty="0"/>
              <a:t>Launch</a:t>
            </a:r>
            <a:r>
              <a:rPr sz="4000" spc="-75" dirty="0"/>
              <a:t> </a:t>
            </a:r>
            <a:r>
              <a:rPr sz="4000" spc="-10" dirty="0"/>
              <a:t>Sites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8826" y="1505201"/>
            <a:ext cx="4097575" cy="4605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51325" y="2139649"/>
            <a:ext cx="3590925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SpaceX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were </a:t>
            </a:r>
            <a:r>
              <a:rPr sz="2200" dirty="0">
                <a:latin typeface="Arial MT"/>
                <a:cs typeface="Arial MT"/>
              </a:rPr>
              <a:t>located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either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Vandenberg </a:t>
            </a:r>
            <a:r>
              <a:rPr sz="2200" dirty="0">
                <a:latin typeface="Arial MT"/>
                <a:cs typeface="Arial MT"/>
              </a:rPr>
              <a:t>Space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near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Los </a:t>
            </a:r>
            <a:r>
              <a:rPr sz="2200" dirty="0">
                <a:latin typeface="Arial MT"/>
                <a:cs typeface="Arial MT"/>
              </a:rPr>
              <a:t>Angeles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next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John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F. </a:t>
            </a:r>
            <a:r>
              <a:rPr sz="2200" dirty="0">
                <a:latin typeface="Arial MT"/>
                <a:cs typeface="Arial MT"/>
              </a:rPr>
              <a:t>Kennedy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Space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Center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in </a:t>
            </a:r>
            <a:r>
              <a:rPr sz="2200" spc="-10" dirty="0">
                <a:latin typeface="Arial MT"/>
                <a:cs typeface="Arial MT"/>
              </a:rPr>
              <a:t>Florida.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Launch</a:t>
            </a:r>
            <a:r>
              <a:rPr sz="4000" spc="-120" dirty="0"/>
              <a:t> </a:t>
            </a:r>
            <a:r>
              <a:rPr sz="4000" dirty="0"/>
              <a:t>Locations</a:t>
            </a:r>
            <a:r>
              <a:rPr sz="4000" spc="-120" dirty="0"/>
              <a:t> </a:t>
            </a:r>
            <a:r>
              <a:rPr sz="4000" dirty="0"/>
              <a:t>with</a:t>
            </a:r>
            <a:r>
              <a:rPr sz="4000" spc="-120" dirty="0"/>
              <a:t> </a:t>
            </a:r>
            <a:r>
              <a:rPr sz="4000" spc="-10" dirty="0"/>
              <a:t>Outcome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46574" y="1087700"/>
            <a:ext cx="4124825" cy="52273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80875" y="2076874"/>
            <a:ext cx="3128645" cy="371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87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were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eleven </a:t>
            </a:r>
            <a:r>
              <a:rPr sz="2200" dirty="0">
                <a:latin typeface="Arial MT"/>
                <a:cs typeface="Arial MT"/>
              </a:rPr>
              <a:t>launches,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four </a:t>
            </a:r>
            <a:r>
              <a:rPr sz="2200" dirty="0">
                <a:latin typeface="Arial MT"/>
                <a:cs typeface="Arial MT"/>
              </a:rPr>
              <a:t>successful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stage </a:t>
            </a:r>
            <a:r>
              <a:rPr sz="2200" dirty="0">
                <a:latin typeface="Arial MT"/>
                <a:cs typeface="Arial MT"/>
              </a:rPr>
              <a:t>landings,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Vandenberg </a:t>
            </a:r>
            <a:r>
              <a:rPr sz="2200" dirty="0">
                <a:latin typeface="Arial MT"/>
                <a:cs typeface="Arial MT"/>
              </a:rPr>
              <a:t>Space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base.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forty-</a:t>
            </a:r>
            <a:r>
              <a:rPr sz="2200" spc="-25" dirty="0">
                <a:latin typeface="Arial MT"/>
                <a:cs typeface="Arial MT"/>
              </a:rPr>
              <a:t>six </a:t>
            </a:r>
            <a:r>
              <a:rPr sz="2200" dirty="0">
                <a:latin typeface="Arial MT"/>
                <a:cs typeface="Arial MT"/>
              </a:rPr>
              <a:t>launches,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than </a:t>
            </a:r>
            <a:r>
              <a:rPr sz="2200" dirty="0">
                <a:latin typeface="Arial MT"/>
                <a:cs typeface="Arial MT"/>
              </a:rPr>
              <a:t>ten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successful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stage </a:t>
            </a:r>
            <a:r>
              <a:rPr sz="2200" dirty="0">
                <a:latin typeface="Arial MT"/>
                <a:cs typeface="Arial MT"/>
              </a:rPr>
              <a:t>landings,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next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John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F. </a:t>
            </a:r>
            <a:r>
              <a:rPr sz="2200" dirty="0">
                <a:latin typeface="Arial MT"/>
                <a:cs typeface="Arial MT"/>
              </a:rPr>
              <a:t>Kennedy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Space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Center.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Distance</a:t>
            </a:r>
            <a:r>
              <a:rPr spc="-120" dirty="0"/>
              <a:t> </a:t>
            </a:r>
            <a:r>
              <a:rPr dirty="0"/>
              <a:t>between</a:t>
            </a:r>
            <a:r>
              <a:rPr spc="-120" dirty="0"/>
              <a:t> </a:t>
            </a:r>
            <a:r>
              <a:rPr dirty="0"/>
              <a:t>Launch</a:t>
            </a:r>
            <a:r>
              <a:rPr spc="-114" dirty="0"/>
              <a:t> </a:t>
            </a:r>
            <a:r>
              <a:rPr dirty="0"/>
              <a:t>Site</a:t>
            </a:r>
            <a:r>
              <a:rPr spc="-12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Major</a:t>
            </a:r>
            <a:r>
              <a:rPr spc="-120" dirty="0"/>
              <a:t> </a:t>
            </a:r>
            <a:r>
              <a:rPr spc="-10" dirty="0"/>
              <a:t>Cities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89975" y="1166175"/>
            <a:ext cx="4566775" cy="55019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65550" y="2265198"/>
            <a:ext cx="2929255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distance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314.61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km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JFK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SC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sites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city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Miami, </a:t>
            </a:r>
            <a:r>
              <a:rPr sz="2200" dirty="0">
                <a:latin typeface="Arial MT"/>
                <a:cs typeface="Arial MT"/>
              </a:rPr>
              <a:t>heart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largest metropolitan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in </a:t>
            </a:r>
            <a:r>
              <a:rPr sz="2200" spc="-10" dirty="0">
                <a:latin typeface="Arial MT"/>
                <a:cs typeface="Arial MT"/>
              </a:rPr>
              <a:t>Florida.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969" y="2529745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302" y="369331"/>
                </a:moveTo>
                <a:lnTo>
                  <a:pt x="0" y="369331"/>
                </a:lnTo>
                <a:lnTo>
                  <a:pt x="0" y="0"/>
                </a:lnTo>
                <a:lnTo>
                  <a:pt x="1058302" y="0"/>
                </a:lnTo>
                <a:lnTo>
                  <a:pt x="1058302" y="369331"/>
                </a:lnTo>
                <a:close/>
              </a:path>
            </a:pathLst>
          </a:custGeom>
          <a:solidFill>
            <a:srgbClr val="0948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0994" y="2546001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Launch</a:t>
            </a:r>
            <a:r>
              <a:rPr sz="4000" spc="-85" dirty="0"/>
              <a:t> </a:t>
            </a:r>
            <a:r>
              <a:rPr sz="4000" dirty="0"/>
              <a:t>Successes</a:t>
            </a:r>
            <a:r>
              <a:rPr sz="4000" spc="-85" dirty="0"/>
              <a:t> </a:t>
            </a:r>
            <a:r>
              <a:rPr sz="4000" dirty="0"/>
              <a:t>by</a:t>
            </a:r>
            <a:r>
              <a:rPr sz="4000" spc="-80" dirty="0"/>
              <a:t> </a:t>
            </a:r>
            <a:r>
              <a:rPr sz="4000" dirty="0"/>
              <a:t>Launch</a:t>
            </a:r>
            <a:r>
              <a:rPr sz="4000" spc="-85" dirty="0"/>
              <a:t> </a:t>
            </a:r>
            <a:r>
              <a:rPr sz="4000" spc="-20" dirty="0"/>
              <a:t>Site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5475" y="1600200"/>
            <a:ext cx="11062499" cy="3318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21775" y="5356799"/>
            <a:ext cx="8470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highest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proportion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successes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KSC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LC-</a:t>
            </a:r>
            <a:r>
              <a:rPr sz="2200" b="1" spc="-20" dirty="0">
                <a:latin typeface="Arial"/>
                <a:cs typeface="Arial"/>
              </a:rPr>
              <a:t>39A</a:t>
            </a:r>
            <a:r>
              <a:rPr sz="2200" spc="-20" dirty="0">
                <a:latin typeface="Arial MT"/>
                <a:cs typeface="Arial MT"/>
              </a:rPr>
              <a:t>.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lowest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proportion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successes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CCAFS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SLC-40</a:t>
            </a:r>
            <a:r>
              <a:rPr sz="2200" spc="-25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Successes/Failures</a:t>
            </a:r>
            <a:r>
              <a:rPr sz="4000" spc="-20" dirty="0"/>
              <a:t> </a:t>
            </a:r>
            <a:r>
              <a:rPr sz="4000" dirty="0"/>
              <a:t>for</a:t>
            </a:r>
            <a:r>
              <a:rPr sz="4000" spc="-20" dirty="0"/>
              <a:t> </a:t>
            </a:r>
            <a:r>
              <a:rPr sz="4000" dirty="0"/>
              <a:t>KSC</a:t>
            </a:r>
            <a:r>
              <a:rPr sz="4000" spc="-20" dirty="0"/>
              <a:t> </a:t>
            </a:r>
            <a:r>
              <a:rPr sz="4000" spc="-10" dirty="0"/>
              <a:t>LC-</a:t>
            </a:r>
            <a:r>
              <a:rPr sz="4000" spc="-25" dirty="0"/>
              <a:t>39A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74" y="1302875"/>
            <a:ext cx="11774499" cy="27208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71400" y="4870299"/>
            <a:ext cx="6510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launch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highest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proportion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spc="-10" dirty="0">
                <a:latin typeface="Arial MT"/>
                <a:cs typeface="Arial MT"/>
              </a:rPr>
              <a:t>successes,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KSC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LC-</a:t>
            </a:r>
            <a:r>
              <a:rPr sz="2200" dirty="0">
                <a:latin typeface="Arial MT"/>
                <a:cs typeface="Arial MT"/>
              </a:rPr>
              <a:t>39A,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76.9%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success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rate.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3582" y="6083644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B7DDB"/>
                </a:solidFill>
                <a:latin typeface="Arial MT"/>
                <a:cs typeface="Arial MT"/>
              </a:rPr>
              <a:t>41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Payload</a:t>
            </a:r>
            <a:r>
              <a:rPr spc="-105" dirty="0"/>
              <a:t> </a:t>
            </a:r>
            <a:r>
              <a:rPr dirty="0"/>
              <a:t>Mass</a:t>
            </a:r>
            <a:r>
              <a:rPr spc="-100" dirty="0"/>
              <a:t> </a:t>
            </a:r>
            <a:r>
              <a:rPr dirty="0"/>
              <a:t>vs.</a:t>
            </a:r>
            <a:r>
              <a:rPr spc="-110" dirty="0"/>
              <a:t> </a:t>
            </a:r>
            <a:r>
              <a:rPr dirty="0"/>
              <a:t>Launch</a:t>
            </a:r>
            <a:r>
              <a:rPr spc="-100" dirty="0"/>
              <a:t> </a:t>
            </a:r>
            <a:r>
              <a:rPr dirty="0"/>
              <a:t>Outcome</a:t>
            </a:r>
            <a:r>
              <a:rPr spc="-10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all</a:t>
            </a:r>
            <a:r>
              <a:rPr spc="-100" dirty="0"/>
              <a:t> </a:t>
            </a:r>
            <a:r>
              <a:rPr spc="-10" dirty="0"/>
              <a:t>Sites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460412"/>
            <a:ext cx="12123799" cy="41924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8650" y="5937449"/>
            <a:ext cx="103358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mass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booster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versions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FT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B4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higher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mass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payloads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booster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versions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v1.1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b="1" spc="-25" dirty="0">
                <a:latin typeface="Arial"/>
                <a:cs typeface="Arial"/>
              </a:rPr>
              <a:t>B5</a:t>
            </a:r>
            <a:r>
              <a:rPr sz="2200" spc="-25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969" y="2529745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302" y="369331"/>
                </a:moveTo>
                <a:lnTo>
                  <a:pt x="0" y="369331"/>
                </a:lnTo>
                <a:lnTo>
                  <a:pt x="0" y="0"/>
                </a:lnTo>
                <a:lnTo>
                  <a:pt x="1058302" y="0"/>
                </a:lnTo>
                <a:lnTo>
                  <a:pt x="1058302" y="369331"/>
                </a:lnTo>
                <a:close/>
              </a:path>
            </a:pathLst>
          </a:custGeom>
          <a:solidFill>
            <a:srgbClr val="0948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0994" y="2546001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Classification</a:t>
            </a:r>
            <a:r>
              <a:rPr spc="-145" dirty="0"/>
              <a:t> </a:t>
            </a:r>
            <a:r>
              <a:rPr spc="-10" dirty="0"/>
              <a:t>Accuracy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9175" y="1596200"/>
            <a:ext cx="6031724" cy="45955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6246" y="1967024"/>
            <a:ext cx="2705100" cy="371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5080" indent="-397510">
              <a:lnSpc>
                <a:spcPct val="100000"/>
              </a:lnSpc>
              <a:spcBef>
                <a:spcPts val="100"/>
              </a:spcBef>
              <a:buChar char="●"/>
              <a:tabLst>
                <a:tab pos="40957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logistic </a:t>
            </a:r>
            <a:r>
              <a:rPr sz="2200" dirty="0">
                <a:latin typeface="Arial MT"/>
                <a:cs typeface="Arial MT"/>
              </a:rPr>
              <a:t>regression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decision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tree </a:t>
            </a:r>
            <a:r>
              <a:rPr sz="2200" dirty="0">
                <a:latin typeface="Arial MT"/>
                <a:cs typeface="Arial MT"/>
              </a:rPr>
              <a:t>models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most </a:t>
            </a:r>
            <a:r>
              <a:rPr sz="2200" dirty="0">
                <a:latin typeface="Arial MT"/>
                <a:cs typeface="Arial MT"/>
              </a:rPr>
              <a:t>accurately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classify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landing </a:t>
            </a:r>
            <a:r>
              <a:rPr sz="2200" dirty="0">
                <a:latin typeface="Arial MT"/>
                <a:cs typeface="Arial MT"/>
              </a:rPr>
              <a:t>outcome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given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feature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variables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●"/>
            </a:pPr>
            <a:endParaRPr sz="2200">
              <a:latin typeface="Arial MT"/>
              <a:cs typeface="Arial MT"/>
            </a:endParaRPr>
          </a:p>
          <a:p>
            <a:pPr marL="409575" marR="253365" indent="-397510">
              <a:lnSpc>
                <a:spcPct val="100000"/>
              </a:lnSpc>
              <a:buChar char="●"/>
              <a:tabLst>
                <a:tab pos="409575" algn="l"/>
              </a:tabLst>
            </a:pPr>
            <a:r>
              <a:rPr sz="2200" dirty="0">
                <a:latin typeface="Arial MT"/>
                <a:cs typeface="Arial MT"/>
              </a:rPr>
              <a:t>Mutual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accuracy </a:t>
            </a:r>
            <a:r>
              <a:rPr sz="2200" dirty="0">
                <a:latin typeface="Arial MT"/>
                <a:cs typeface="Arial MT"/>
              </a:rPr>
              <a:t>score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0.833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spc="-215" dirty="0"/>
              <a:t> </a:t>
            </a:r>
            <a:r>
              <a:rPr spc="-10" dirty="0"/>
              <a:t>Matrix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942725" y="1407850"/>
            <a:ext cx="5846725" cy="5019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67771" y="2469224"/>
            <a:ext cx="3044825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5080" indent="-397510">
              <a:lnSpc>
                <a:spcPct val="100000"/>
              </a:lnSpc>
              <a:spcBef>
                <a:spcPts val="100"/>
              </a:spcBef>
              <a:buChar char="●"/>
              <a:tabLst>
                <a:tab pos="409575" algn="l"/>
              </a:tabLst>
            </a:pPr>
            <a:r>
              <a:rPr sz="2200" dirty="0">
                <a:latin typeface="Arial MT"/>
                <a:cs typeface="Arial MT"/>
              </a:rPr>
              <a:t>100%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precision,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50% </a:t>
            </a:r>
            <a:r>
              <a:rPr sz="2200" dirty="0">
                <a:latin typeface="Arial MT"/>
                <a:cs typeface="Arial MT"/>
              </a:rPr>
              <a:t>recall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failed outcomes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●"/>
            </a:pPr>
            <a:endParaRPr sz="2200">
              <a:latin typeface="Arial MT"/>
              <a:cs typeface="Arial MT"/>
            </a:endParaRPr>
          </a:p>
          <a:p>
            <a:pPr marL="409575" marR="5080" indent="-397510">
              <a:lnSpc>
                <a:spcPct val="100000"/>
              </a:lnSpc>
              <a:buChar char="●"/>
              <a:tabLst>
                <a:tab pos="409575" algn="l"/>
              </a:tabLst>
            </a:pPr>
            <a:r>
              <a:rPr sz="2200" dirty="0">
                <a:latin typeface="Arial MT"/>
                <a:cs typeface="Arial MT"/>
              </a:rPr>
              <a:t>80%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precision,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100% </a:t>
            </a:r>
            <a:r>
              <a:rPr sz="2200" dirty="0">
                <a:latin typeface="Arial MT"/>
                <a:cs typeface="Arial MT"/>
              </a:rPr>
              <a:t>recall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successful outcomes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99390" marR="379730" indent="-187325">
              <a:lnSpc>
                <a:spcPts val="2380"/>
              </a:lnSpc>
              <a:spcBef>
                <a:spcPts val="395"/>
              </a:spcBef>
              <a:buChar char="•"/>
              <a:tabLst>
                <a:tab pos="199390" algn="l"/>
                <a:tab pos="271145" algn="l"/>
              </a:tabLst>
            </a:pPr>
            <a:r>
              <a:rPr dirty="0"/>
              <a:t>	The</a:t>
            </a:r>
            <a:r>
              <a:rPr spc="-80" dirty="0"/>
              <a:t> </a:t>
            </a:r>
            <a:r>
              <a:rPr dirty="0"/>
              <a:t>overall</a:t>
            </a:r>
            <a:r>
              <a:rPr spc="-65" dirty="0"/>
              <a:t> </a:t>
            </a:r>
            <a:r>
              <a:rPr dirty="0"/>
              <a:t>trend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landing</a:t>
            </a:r>
            <a:r>
              <a:rPr spc="-65" dirty="0"/>
              <a:t> </a:t>
            </a:r>
            <a:r>
              <a:rPr dirty="0"/>
              <a:t>success</a:t>
            </a:r>
            <a:r>
              <a:rPr spc="-65" dirty="0"/>
              <a:t> </a:t>
            </a:r>
            <a:r>
              <a:rPr dirty="0"/>
              <a:t>rate</a:t>
            </a:r>
            <a:r>
              <a:rPr spc="-65" dirty="0"/>
              <a:t> </a:t>
            </a:r>
            <a:r>
              <a:rPr dirty="0"/>
              <a:t>over</a:t>
            </a:r>
            <a:r>
              <a:rPr spc="-65" dirty="0"/>
              <a:t> </a:t>
            </a:r>
            <a:r>
              <a:rPr dirty="0"/>
              <a:t>time</a:t>
            </a:r>
            <a:r>
              <a:rPr spc="-65" dirty="0"/>
              <a:t> </a:t>
            </a:r>
            <a:r>
              <a:rPr dirty="0"/>
              <a:t>has</a:t>
            </a:r>
            <a:r>
              <a:rPr spc="-65" dirty="0"/>
              <a:t> </a:t>
            </a:r>
            <a:r>
              <a:rPr spc="-10" dirty="0"/>
              <a:t>changed </a:t>
            </a:r>
            <a:r>
              <a:rPr dirty="0"/>
              <a:t>from</a:t>
            </a:r>
            <a:r>
              <a:rPr spc="-75" dirty="0"/>
              <a:t> </a:t>
            </a:r>
            <a:r>
              <a:rPr dirty="0"/>
              <a:t>certain</a:t>
            </a:r>
            <a:r>
              <a:rPr spc="-75" dirty="0"/>
              <a:t> </a:t>
            </a:r>
            <a:r>
              <a:rPr dirty="0"/>
              <a:t>failure</a:t>
            </a:r>
            <a:r>
              <a:rPr spc="-70" dirty="0"/>
              <a:t> </a:t>
            </a:r>
            <a:r>
              <a:rPr dirty="0"/>
              <a:t>during</a:t>
            </a:r>
            <a:r>
              <a:rPr spc="-75" dirty="0"/>
              <a:t> </a:t>
            </a:r>
            <a:r>
              <a:rPr dirty="0"/>
              <a:t>2010</a:t>
            </a:r>
            <a:r>
              <a:rPr spc="-7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b="1" dirty="0">
                <a:latin typeface="Arial"/>
                <a:cs typeface="Arial"/>
              </a:rPr>
              <a:t>very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likely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success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spc="-10" dirty="0"/>
              <a:t>(~90%) </a:t>
            </a:r>
            <a:r>
              <a:rPr dirty="0"/>
              <a:t>during</a:t>
            </a:r>
            <a:r>
              <a:rPr spc="-95" dirty="0"/>
              <a:t> </a:t>
            </a:r>
            <a:r>
              <a:rPr spc="-10" dirty="0"/>
              <a:t>2020.</a:t>
            </a:r>
            <a:endParaRPr spc="-10" dirty="0"/>
          </a:p>
          <a:p>
            <a:pPr marL="198120" marR="227330" indent="-186055" algn="just">
              <a:lnSpc>
                <a:spcPts val="2380"/>
              </a:lnSpc>
              <a:spcBef>
                <a:spcPts val="2365"/>
              </a:spcBef>
              <a:buChar char="•"/>
              <a:tabLst>
                <a:tab pos="199390" algn="l"/>
              </a:tabLst>
            </a:pPr>
            <a:r>
              <a:rPr dirty="0"/>
              <a:t>Landing</a:t>
            </a:r>
            <a:r>
              <a:rPr spc="-75" dirty="0"/>
              <a:t> </a:t>
            </a:r>
            <a:r>
              <a:rPr dirty="0"/>
              <a:t>success</a:t>
            </a:r>
            <a:r>
              <a:rPr spc="-70" dirty="0"/>
              <a:t> </a:t>
            </a:r>
            <a:r>
              <a:rPr dirty="0"/>
              <a:t>rate</a:t>
            </a:r>
            <a:r>
              <a:rPr spc="-70" dirty="0"/>
              <a:t> </a:t>
            </a:r>
            <a:r>
              <a:rPr dirty="0"/>
              <a:t>does</a:t>
            </a:r>
            <a:r>
              <a:rPr spc="-70" dirty="0"/>
              <a:t> </a:t>
            </a:r>
            <a:r>
              <a:rPr dirty="0"/>
              <a:t>tend</a:t>
            </a:r>
            <a:r>
              <a:rPr spc="-7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increase</a:t>
            </a:r>
            <a:r>
              <a:rPr spc="-7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b="1" dirty="0">
                <a:latin typeface="Arial"/>
                <a:cs typeface="Arial"/>
              </a:rPr>
              <a:t>heavy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payloads </a:t>
            </a:r>
            <a:r>
              <a:rPr b="1" spc="-10" dirty="0">
                <a:latin typeface="Arial"/>
                <a:cs typeface="Arial"/>
              </a:rPr>
              <a:t>	</a:t>
            </a:r>
            <a:r>
              <a:rPr dirty="0"/>
              <a:t>over</a:t>
            </a:r>
            <a:r>
              <a:rPr spc="-75" dirty="0"/>
              <a:t> </a:t>
            </a:r>
            <a:r>
              <a:rPr dirty="0"/>
              <a:t>light</a:t>
            </a:r>
            <a:r>
              <a:rPr spc="-75" dirty="0"/>
              <a:t> </a:t>
            </a:r>
            <a:r>
              <a:rPr dirty="0"/>
              <a:t>payloads,</a:t>
            </a:r>
            <a:r>
              <a:rPr spc="-75" dirty="0"/>
              <a:t> </a:t>
            </a:r>
            <a:r>
              <a:rPr spc="-10" dirty="0"/>
              <a:t>however,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trend</a:t>
            </a:r>
            <a:r>
              <a:rPr spc="-7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not</a:t>
            </a:r>
            <a:r>
              <a:rPr spc="-75" dirty="0"/>
              <a:t> </a:t>
            </a:r>
            <a:r>
              <a:rPr dirty="0"/>
              <a:t>conclusive</a:t>
            </a:r>
            <a:r>
              <a:rPr spc="-70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spc="-10" dirty="0"/>
              <a:t>there </a:t>
            </a:r>
            <a:r>
              <a:rPr spc="-10" dirty="0"/>
              <a:t>	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comparatively</a:t>
            </a:r>
            <a:r>
              <a:rPr spc="-70" dirty="0"/>
              <a:t> </a:t>
            </a:r>
            <a:r>
              <a:rPr dirty="0"/>
              <a:t>few</a:t>
            </a:r>
            <a:r>
              <a:rPr spc="-70" dirty="0"/>
              <a:t> </a:t>
            </a:r>
            <a:r>
              <a:rPr dirty="0"/>
              <a:t>launches</a:t>
            </a:r>
            <a:r>
              <a:rPr spc="-70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heavy</a:t>
            </a:r>
            <a:r>
              <a:rPr spc="-70" dirty="0"/>
              <a:t> </a:t>
            </a:r>
            <a:r>
              <a:rPr dirty="0"/>
              <a:t>(&gt;10000</a:t>
            </a:r>
            <a:r>
              <a:rPr spc="-75" dirty="0"/>
              <a:t> </a:t>
            </a:r>
            <a:r>
              <a:rPr dirty="0"/>
              <a:t>kg)</a:t>
            </a:r>
            <a:r>
              <a:rPr spc="-70" dirty="0"/>
              <a:t> </a:t>
            </a:r>
            <a:r>
              <a:rPr spc="-10" dirty="0"/>
              <a:t>payloads.</a:t>
            </a:r>
            <a:endParaRPr spc="-10" dirty="0"/>
          </a:p>
          <a:p>
            <a:pPr marL="198120" marR="5080" indent="-186055">
              <a:lnSpc>
                <a:spcPts val="2380"/>
              </a:lnSpc>
              <a:spcBef>
                <a:spcPts val="1385"/>
              </a:spcBef>
              <a:buChar char="•"/>
              <a:tabLst>
                <a:tab pos="199390" algn="l"/>
              </a:tabLst>
            </a:pPr>
            <a:r>
              <a:rPr dirty="0"/>
              <a:t>Most</a:t>
            </a:r>
            <a:r>
              <a:rPr spc="-65" dirty="0"/>
              <a:t> </a:t>
            </a:r>
            <a:r>
              <a:rPr dirty="0"/>
              <a:t>orbit</a:t>
            </a:r>
            <a:r>
              <a:rPr spc="-60" dirty="0"/>
              <a:t> </a:t>
            </a:r>
            <a:r>
              <a:rPr dirty="0"/>
              <a:t>types</a:t>
            </a:r>
            <a:r>
              <a:rPr spc="-60" dirty="0"/>
              <a:t> </a:t>
            </a:r>
            <a:r>
              <a:rPr dirty="0"/>
              <a:t>that</a:t>
            </a:r>
            <a:r>
              <a:rPr spc="-65" dirty="0"/>
              <a:t> </a:t>
            </a:r>
            <a:r>
              <a:rPr dirty="0"/>
              <a:t>correlate</a:t>
            </a:r>
            <a:r>
              <a:rPr spc="-6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high</a:t>
            </a:r>
            <a:r>
              <a:rPr spc="-65" dirty="0"/>
              <a:t> </a:t>
            </a:r>
            <a:r>
              <a:rPr dirty="0"/>
              <a:t>success</a:t>
            </a:r>
            <a:r>
              <a:rPr spc="-60" dirty="0"/>
              <a:t> </a:t>
            </a:r>
            <a:r>
              <a:rPr dirty="0"/>
              <a:t>rate</a:t>
            </a:r>
            <a:r>
              <a:rPr spc="-60" dirty="0"/>
              <a:t> </a:t>
            </a:r>
            <a:r>
              <a:rPr dirty="0"/>
              <a:t>have</a:t>
            </a:r>
            <a:r>
              <a:rPr spc="-65" dirty="0"/>
              <a:t> </a:t>
            </a:r>
            <a:r>
              <a:rPr dirty="0"/>
              <a:t>less</a:t>
            </a:r>
            <a:r>
              <a:rPr spc="-60" dirty="0"/>
              <a:t> </a:t>
            </a:r>
            <a:r>
              <a:rPr spc="-20" dirty="0"/>
              <a:t>than </a:t>
            </a:r>
            <a:r>
              <a:rPr spc="-20" dirty="0"/>
              <a:t>	</a:t>
            </a:r>
            <a:r>
              <a:rPr dirty="0"/>
              <a:t>five</a:t>
            </a:r>
            <a:r>
              <a:rPr spc="-65" dirty="0"/>
              <a:t> </a:t>
            </a:r>
            <a:r>
              <a:rPr dirty="0"/>
              <a:t>launch</a:t>
            </a:r>
            <a:r>
              <a:rPr spc="-6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points,</a:t>
            </a:r>
            <a:r>
              <a:rPr spc="-65" dirty="0"/>
              <a:t> </a:t>
            </a:r>
            <a:r>
              <a:rPr dirty="0"/>
              <a:t>except</a:t>
            </a:r>
            <a:r>
              <a:rPr spc="-6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b="1" dirty="0">
                <a:latin typeface="Arial"/>
                <a:cs typeface="Arial"/>
              </a:rPr>
              <a:t>VLEO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orbit,</a:t>
            </a:r>
            <a:r>
              <a:rPr spc="-65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high</a:t>
            </a:r>
            <a:r>
              <a:rPr spc="-60" dirty="0"/>
              <a:t> </a:t>
            </a:r>
            <a:r>
              <a:rPr spc="-10" dirty="0"/>
              <a:t>success </a:t>
            </a:r>
            <a:r>
              <a:rPr spc="-10" dirty="0"/>
              <a:t>	</a:t>
            </a:r>
            <a:r>
              <a:rPr dirty="0"/>
              <a:t>rate</a:t>
            </a:r>
            <a:r>
              <a:rPr spc="-65" dirty="0"/>
              <a:t> </a:t>
            </a:r>
            <a:r>
              <a:rPr dirty="0"/>
              <a:t>(~90%)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sufficient</a:t>
            </a:r>
            <a:r>
              <a:rPr spc="-60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points</a:t>
            </a:r>
            <a:r>
              <a:rPr spc="-60" dirty="0"/>
              <a:t> </a:t>
            </a:r>
            <a:r>
              <a:rPr dirty="0"/>
              <a:t>(14</a:t>
            </a:r>
            <a:r>
              <a:rPr spc="-65" dirty="0"/>
              <a:t> </a:t>
            </a:r>
            <a:r>
              <a:rPr spc="-10" dirty="0"/>
              <a:t>launches).</a:t>
            </a:r>
            <a:endParaRPr spc="-10" dirty="0"/>
          </a:p>
          <a:p>
            <a:pPr marL="198120" marR="266065" indent="-186055" algn="just">
              <a:lnSpc>
                <a:spcPts val="2380"/>
              </a:lnSpc>
              <a:spcBef>
                <a:spcPts val="1390"/>
              </a:spcBef>
              <a:buChar char="•"/>
              <a:tabLst>
                <a:tab pos="199390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launch</a:t>
            </a:r>
            <a:r>
              <a:rPr spc="-60" dirty="0"/>
              <a:t> </a:t>
            </a:r>
            <a:r>
              <a:rPr dirty="0"/>
              <a:t>site</a:t>
            </a:r>
            <a:r>
              <a:rPr spc="-60" dirty="0"/>
              <a:t> </a:t>
            </a:r>
            <a:r>
              <a:rPr b="1" dirty="0">
                <a:latin typeface="Arial"/>
                <a:cs typeface="Arial"/>
              </a:rPr>
              <a:t>KSC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LC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39A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dirty="0"/>
              <a:t>has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highest</a:t>
            </a:r>
            <a:r>
              <a:rPr spc="-60" dirty="0"/>
              <a:t> </a:t>
            </a:r>
            <a:r>
              <a:rPr dirty="0"/>
              <a:t>overall</a:t>
            </a:r>
            <a:r>
              <a:rPr spc="-65" dirty="0"/>
              <a:t> </a:t>
            </a:r>
            <a:r>
              <a:rPr dirty="0"/>
              <a:t>success</a:t>
            </a:r>
            <a:r>
              <a:rPr spc="-60" dirty="0"/>
              <a:t> </a:t>
            </a:r>
            <a:r>
              <a:rPr spc="-20" dirty="0"/>
              <a:t>rate </a:t>
            </a:r>
            <a:r>
              <a:rPr spc="-20" dirty="0"/>
              <a:t>	</a:t>
            </a:r>
            <a:r>
              <a:rPr dirty="0"/>
              <a:t>per</a:t>
            </a:r>
            <a:r>
              <a:rPr spc="-60" dirty="0"/>
              <a:t> </a:t>
            </a:r>
            <a:r>
              <a:rPr dirty="0"/>
              <a:t>site</a:t>
            </a:r>
            <a:r>
              <a:rPr spc="-55" dirty="0"/>
              <a:t> </a:t>
            </a:r>
            <a:r>
              <a:rPr dirty="0"/>
              <a:t>(76.9%)</a:t>
            </a:r>
            <a:r>
              <a:rPr spc="-55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10" dirty="0"/>
              <a:t>sufficient</a:t>
            </a:r>
            <a:r>
              <a:rPr spc="-55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support</a:t>
            </a:r>
            <a:r>
              <a:rPr spc="-60" dirty="0"/>
              <a:t> </a:t>
            </a:r>
            <a:r>
              <a:rPr dirty="0"/>
              <a:t>this</a:t>
            </a:r>
            <a:r>
              <a:rPr spc="-55" dirty="0"/>
              <a:t> </a:t>
            </a:r>
            <a:r>
              <a:rPr spc="-10" dirty="0"/>
              <a:t>conclusion</a:t>
            </a:r>
            <a:r>
              <a:rPr spc="-55" dirty="0"/>
              <a:t> </a:t>
            </a:r>
            <a:r>
              <a:rPr spc="-25" dirty="0"/>
              <a:t>(22 </a:t>
            </a:r>
            <a:r>
              <a:rPr spc="-25" dirty="0"/>
              <a:t>	</a:t>
            </a:r>
            <a:r>
              <a:rPr spc="-10" dirty="0"/>
              <a:t>launches).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Conclusions</a:t>
            </a:r>
            <a:endParaRPr spc="-1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Appendix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71987" y="2065175"/>
            <a:ext cx="4066483" cy="4605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6100" y="1923728"/>
            <a:ext cx="3924299" cy="48602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5650" y="1449149"/>
            <a:ext cx="40449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Global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Second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Screenshot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7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6043475" y="1417699"/>
            <a:ext cx="5410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Launch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Outcome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Icons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Second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Screenshot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10636</Words>
  <Application>WPS Presentation</Application>
  <PresentationFormat>On-screen Show (4:3)</PresentationFormat>
  <Paragraphs>396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2" baseType="lpstr">
      <vt:lpstr>Arial</vt:lpstr>
      <vt:lpstr>SimSun</vt:lpstr>
      <vt:lpstr>Wingdings</vt:lpstr>
      <vt:lpstr>Arial MT</vt:lpstr>
      <vt:lpstr>DejaVu Sans</vt:lpstr>
      <vt:lpstr>Arial</vt:lpstr>
      <vt:lpstr>Calibri</vt:lpstr>
      <vt:lpstr>Microsoft YaHei</vt:lpstr>
      <vt:lpstr>Droid Sans Fallback</vt:lpstr>
      <vt:lpstr>Arial Unicode MS</vt:lpstr>
      <vt:lpstr>FontAwesome</vt:lpstr>
      <vt:lpstr>Times New Roman</vt:lpstr>
      <vt:lpstr>C059</vt:lpstr>
      <vt:lpstr>OpenSymbol</vt:lpstr>
      <vt:lpstr>Office Theme</vt:lpstr>
      <vt:lpstr>PowerPoint 演示文稿</vt:lpstr>
      <vt:lpstr>Outline</vt:lpstr>
      <vt:lpstr>Executive Summary</vt:lpstr>
      <vt:lpstr>Introduction</vt:lpstr>
      <vt:lpstr>PowerPoint 演示文稿</vt:lpstr>
      <vt:lpstr>Methodology</vt:lpstr>
      <vt:lpstr>Data Collection</vt:lpstr>
      <vt:lpstr>Data Collection – SpaceX API</vt:lpstr>
      <vt:lpstr>Data Collection - Scraping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</vt:lpstr>
      <vt:lpstr>PowerPoint 演示文稿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Landing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演示文稿</vt:lpstr>
      <vt:lpstr>Global SpaceX Launch Sites</vt:lpstr>
      <vt:lpstr>Launch Locations with Outcome</vt:lpstr>
      <vt:lpstr>Distance between Launch Site and Major Cities</vt:lpstr>
      <vt:lpstr>PowerPoint 演示文稿</vt:lpstr>
      <vt:lpstr>Launch Successes by Launch Site</vt:lpstr>
      <vt:lpstr>Successes/Failures for KSC LC-39A</vt:lpstr>
      <vt:lpstr>Payload Mass vs. Launch Outcome for all Sites</vt:lpstr>
      <vt:lpstr>PowerPoint 演示文稿</vt:lpstr>
      <vt:lpstr>Classification Accuracy</vt:lpstr>
      <vt:lpstr>Confusion Matrix</vt:lpstr>
      <vt:lpstr>Conclusions</vt:lpstr>
      <vt:lpstr>Appendix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ds-capstone-template-coursera.pptx</dc:title>
  <dc:creator/>
  <cp:lastModifiedBy>sonie</cp:lastModifiedBy>
  <cp:revision>3</cp:revision>
  <dcterms:created xsi:type="dcterms:W3CDTF">2025-06-25T07:19:08Z</dcterms:created>
  <dcterms:modified xsi:type="dcterms:W3CDTF">2025-06-25T07:19:08Z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2025-06-25T03:00:00Z</vt:filetime>
  </property>
  <property fmtid="{D5CDD505-2E9C-101B-9397-08002B2CF9AE}" pid="3" name="Creator">
    <vt:lpwstr>Google</vt:lpwstr>
  </property>
  <property fmtid="{D5CDD505-2E9C-101B-9397-08002B2CF9AE}" pid="4" name="LastSaved">
    <vt:filetime>2025-06-25T03:00:00Z</vt:filetime>
  </property>
  <property fmtid="{D5CDD505-2E9C-101B-9397-08002B2CF9AE}" pid="5" name="ICV">
    <vt:lpwstr/>
  </property>
  <property fmtid="{D5CDD505-2E9C-101B-9397-08002B2CF9AE}" pid="6" name="KSOProductBuildVer">
    <vt:lpwstr>1033-11.1.0.11723</vt:lpwstr>
  </property>
</Properties>
</file>